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6256000" cy="9144000"/>
  <p:notesSz cx="9144000" cy="16256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are recommended to be as much descriptive as possible and highlight the methodology clearly. 
Teams are recommended to expand on this topic and use as many slides as you prefer.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are recommended to be as much descriptive as possible. 
Teams are recommended to expand on this topic and use as many slides as you prefer.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5" Type="http://schemas.openxmlformats.org/officeDocument/2006/relationships/hyperlink" Target="https://join.slack.com/t/indiaagentica-fy61197/shared_invite/zt-3y5o0mhrm-vttWxctIJ7IuaMxXrQa77w" TargetMode="External"/><Relationship Id="rId1" Type="http://schemas.openxmlformats.org/officeDocument/2006/relationships/image" Target="../media/Slide-11-image-1.jpe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6" Type="http://schemas.openxmlformats.org/officeDocument/2006/relationships/image" Target="../media/image-11-5.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alphaModFix amt="100000"/>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okc/ceterupst46ec/mnt/agents/output/converted/images/image_2.jpg">    </p:cNvPr>
          <p:cNvPicPr>
            <a:picLocks noChangeAspect="1"/>
          </p:cNvPicPr>
          <p:nvPr/>
        </p:nvPicPr>
        <p:blipFill>
          <a:blip r:embed="rId2"/>
          <a:stretch>
            <a:fillRect/>
          </a:stretch>
        </p:blipFill>
        <p:spPr>
          <a:xfrm>
            <a:off x="0" y="0"/>
            <a:ext cx="16256000" cy="9144000"/>
          </a:xfrm>
          <a:prstGeom prst="rect">
            <a:avLst/>
          </a:prstGeom>
        </p:spPr>
      </p:pic>
      <p:pic>
        <p:nvPicPr>
          <p:cNvPr id="3" name="Image 1" descr="https://kimi-img.moonshot.cn/pub/slides/okc/ceterupst46ec/mnt/agents/output/converted/images/image_3.png">    </p:cNvPr>
          <p:cNvPicPr>
            <a:picLocks noChangeAspect="1"/>
          </p:cNvPicPr>
          <p:nvPr/>
        </p:nvPicPr>
        <p:blipFill>
          <a:blip r:embed="rId3"/>
          <a:stretch>
            <a:fillRect/>
          </a:stretch>
        </p:blipFill>
        <p:spPr>
          <a:xfrm>
            <a:off x="362712" y="343789"/>
            <a:ext cx="3718179" cy="1281049"/>
          </a:xfrm>
          <a:prstGeom prst="rect">
            <a:avLst/>
          </a:prstGeom>
        </p:spPr>
      </p:pic>
      <p:sp>
        <p:nvSpPr>
          <p:cNvPr id="4" name="Shape 0"/>
          <p:cNvSpPr/>
          <p:nvPr/>
        </p:nvSpPr>
        <p:spPr>
          <a:xfrm>
            <a:off x="672465" y="1326007"/>
            <a:ext cx="8569960" cy="2194433"/>
          </a:xfrm>
          <a:prstGeom prst="rect">
            <a:avLst/>
          </a:prstGeom>
          <a:solidFill>
            <a:srgbClr val="FFFFFF">
              <a:alpha val="0"/>
            </a:srgbClr>
          </a:solidFill>
          <a:ln/>
        </p:spPr>
      </p:sp>
      <p:sp>
        <p:nvSpPr>
          <p:cNvPr id="5" name="Text 1"/>
          <p:cNvSpPr/>
          <p:nvPr/>
        </p:nvSpPr>
        <p:spPr>
          <a:xfrm>
            <a:off x="591185" y="1285367"/>
            <a:ext cx="8732520" cy="2275713"/>
          </a:xfrm>
          <a:prstGeom prst="rect">
            <a:avLst/>
          </a:prstGeom>
          <a:noFill/>
          <a:ln/>
        </p:spPr>
        <p:txBody>
          <a:bodyPr wrap="square" lIns="0" tIns="0" rIns="0" bIns="0" rtlCol="0" anchor="b"/>
          <a:lstStyle/>
          <a:p>
            <a:pPr>
              <a:lnSpc>
                <a:spcPct val="90000"/>
              </a:lnSpc>
            </a:pPr>
            <a:r>
              <a:rPr lang="en-US" sz="3870" b="1" dirty="0">
                <a:solidFill>
                  <a:srgbClr val="000000"/>
                </a:solidFill>
                <a:latin typeface="NVIDIA Sans" pitchFamily="34" charset="0"/>
                <a:ea typeface="NVIDIA Sans" pitchFamily="34" charset="-122"/>
                <a:cs typeface="NVIDIA Sans" pitchFamily="34" charset="-120"/>
              </a:rPr>
              <a:t>India Agentic AI Open Hackathon</a:t>
            </a:r>
            <a:endParaRPr lang="en-US" sz="1600" dirty="0"/>
          </a:p>
        </p:txBody>
      </p:sp>
      <p:sp>
        <p:nvSpPr>
          <p:cNvPr id="6" name="Shape 2"/>
          <p:cNvSpPr/>
          <p:nvPr/>
        </p:nvSpPr>
        <p:spPr>
          <a:xfrm>
            <a:off x="672465" y="3529711"/>
            <a:ext cx="10755249" cy="757174"/>
          </a:xfrm>
          <a:prstGeom prst="rect">
            <a:avLst/>
          </a:prstGeom>
          <a:solidFill>
            <a:srgbClr val="FFFFFF">
              <a:alpha val="0"/>
            </a:srgbClr>
          </a:solidFill>
          <a:ln/>
        </p:spPr>
      </p:sp>
      <p:sp>
        <p:nvSpPr>
          <p:cNvPr id="7" name="Text 3"/>
          <p:cNvSpPr/>
          <p:nvPr/>
        </p:nvSpPr>
        <p:spPr>
          <a:xfrm>
            <a:off x="591185" y="3489071"/>
            <a:ext cx="10917809" cy="838454"/>
          </a:xfrm>
          <a:prstGeom prst="rect">
            <a:avLst/>
          </a:prstGeom>
          <a:noFill/>
          <a:ln/>
        </p:spPr>
        <p:txBody>
          <a:bodyPr wrap="square" lIns="0" tIns="0" rIns="0" bIns="0" rtlCol="0" anchor="t"/>
          <a:lstStyle/>
          <a:p>
            <a:pPr>
              <a:lnSpc>
                <a:spcPct val="90000"/>
              </a:lnSpc>
            </a:pPr>
            <a:r>
              <a:rPr lang="en-US" sz="2000" dirty="0">
                <a:solidFill>
                  <a:srgbClr val="000000"/>
                </a:solidFill>
                <a:latin typeface="NVIDIA Sans" pitchFamily="34" charset="0"/>
                <a:ea typeface="NVIDIA Sans" pitchFamily="34" charset="-122"/>
                <a:cs typeface="NVIDIA Sans" pitchFamily="34" charset="-120"/>
              </a:rPr>
              <a:t>TEAM NAME: Team VirtualTwin</a:t>
            </a:r>
            <a:endParaRPr lang="en-US" sz="1600" dirty="0"/>
          </a:p>
          <a:p>
            <a:pPr>
              <a:lnSpc>
                <a:spcPct val="90000"/>
              </a:lnSpc>
            </a:pPr>
            <a:r>
              <a:rPr lang="en-US" sz="2000" dirty="0">
                <a:solidFill>
                  <a:srgbClr val="000000"/>
                </a:solidFill>
                <a:latin typeface="NVIDIA Sans" pitchFamily="34" charset="0"/>
                <a:ea typeface="NVIDIA Sans" pitchFamily="34" charset="-122"/>
                <a:cs typeface="NVIDIA Sans" pitchFamily="34" charset="-120"/>
              </a:rPr>
              <a:t>CHOSEN TRACK: Track A: Agentic Workflows</a:t>
            </a:r>
            <a:endParaRPr lang="en-US" sz="1600" dirty="0"/>
          </a:p>
        </p:txBody>
      </p:sp>
      <p:pic>
        <p:nvPicPr>
          <p:cNvPr id="8" name="Image 2" descr="https://kimi-img.moonshot.cn/pub/slides/okc/ceterupst46ec/mnt/agents/output/converted/images/image_4.png">    </p:cNvPr>
          <p:cNvPicPr>
            <a:picLocks noChangeAspect="1"/>
          </p:cNvPicPr>
          <p:nvPr/>
        </p:nvPicPr>
        <p:blipFill>
          <a:blip r:embed="rId4"/>
          <a:stretch>
            <a:fillRect/>
          </a:stretch>
        </p:blipFill>
        <p:spPr>
          <a:xfrm>
            <a:off x="505333" y="8140573"/>
            <a:ext cx="2640711" cy="757174"/>
          </a:xfrm>
          <a:prstGeom prst="rect">
            <a:avLst/>
          </a:prstGeom>
        </p:spPr>
      </p:pic>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185261" y="8749157"/>
            <a:ext cx="69088" cy="395478"/>
          </a:xfrm>
          <a:prstGeom prst="rect">
            <a:avLst/>
          </a:prstGeom>
          <a:solidFill>
            <a:srgbClr val="76B900"/>
          </a:solidFill>
          <a:ln/>
        </p:spPr>
      </p:sp>
      <p:pic>
        <p:nvPicPr>
          <p:cNvPr id="3" name="Image 0" descr="https://kimi-img.moonshot.cn/pub/slides/okc/ceterupst46ec/mnt/agents/output/converted/images/image_3.png">    </p:cNvPr>
          <p:cNvPicPr>
            <a:picLocks noChangeAspect="1"/>
          </p:cNvPicPr>
          <p:nvPr/>
        </p:nvPicPr>
        <p:blipFill>
          <a:blip r:embed="rId1"/>
          <a:stretch>
            <a:fillRect/>
          </a:stretch>
        </p:blipFill>
        <p:spPr>
          <a:xfrm>
            <a:off x="15136876" y="8667750"/>
            <a:ext cx="890270" cy="306705"/>
          </a:xfrm>
          <a:prstGeom prst="rect">
            <a:avLst/>
          </a:prstGeom>
        </p:spPr>
      </p:pic>
      <p:pic>
        <p:nvPicPr>
          <p:cNvPr id="4" name="Image 1" descr="https://kimi-img.moonshot.cn/pub/slides/okc/ceterupst46ec/mnt/agents/output/converted/images/image_4.png">    </p:cNvPr>
          <p:cNvPicPr>
            <a:picLocks noChangeAspect="1"/>
          </p:cNvPicPr>
          <p:nvPr/>
        </p:nvPicPr>
        <p:blipFill>
          <a:blip r:embed="rId2"/>
          <a:stretch>
            <a:fillRect/>
          </a:stretch>
        </p:blipFill>
        <p:spPr>
          <a:xfrm>
            <a:off x="505333" y="8140573"/>
            <a:ext cx="2640711" cy="757174"/>
          </a:xfrm>
          <a:prstGeom prst="rect">
            <a:avLst/>
          </a:prstGeom>
        </p:spPr>
      </p:pic>
      <p:sp>
        <p:nvSpPr>
          <p:cNvPr id="5" name="Shape 1"/>
          <p:cNvSpPr/>
          <p:nvPr/>
        </p:nvSpPr>
        <p:spPr>
          <a:xfrm>
            <a:off x="1420241" y="1017270"/>
            <a:ext cx="11370437" cy="5692013"/>
          </a:xfrm>
          <a:prstGeom prst="rect">
            <a:avLst/>
          </a:prstGeom>
          <a:solidFill>
            <a:srgbClr val="FFFFFF">
              <a:alpha val="0"/>
            </a:srgbClr>
          </a:solidFill>
          <a:ln/>
        </p:spPr>
      </p:sp>
      <p:sp>
        <p:nvSpPr>
          <p:cNvPr id="6" name="Text 2"/>
          <p:cNvSpPr/>
          <p:nvPr/>
        </p:nvSpPr>
        <p:spPr>
          <a:xfrm>
            <a:off x="1460881" y="1118870"/>
            <a:ext cx="11289157" cy="5488813"/>
          </a:xfrm>
          <a:prstGeom prst="rect">
            <a:avLst/>
          </a:prstGeom>
          <a:noFill/>
          <a:ln/>
        </p:spPr>
        <p:txBody>
          <a:bodyPr wrap="square" lIns="0" tIns="0" rIns="0" bIns="0" rtlCol="0" anchor="b"/>
          <a:lstStyle/>
          <a:p>
            <a:pPr>
              <a:lnSpc>
                <a:spcPct val="100000"/>
              </a:lnSpc>
            </a:pPr>
            <a:r>
              <a:rPr lang="en-US" sz="1870" b="1" dirty="0">
                <a:solidFill>
                  <a:srgbClr val="000000"/>
                </a:solidFill>
                <a:latin typeface="Arial" pitchFamily="34" charset="0"/>
                <a:ea typeface="Arial" pitchFamily="34" charset="-122"/>
                <a:cs typeface="Arial" pitchFamily="34" charset="-120"/>
              </a:rPr>
              <a:t>Contents:</a:t>
            </a:r>
            <a:endParaRPr lang="en-US" sz="1600" dirty="0"/>
          </a:p>
          <a:p>
            <a:pPr marL="254000" indent="-254000">
              <a:lnSpc>
                <a:spcPct val="100000"/>
              </a:lnSpc>
              <a:spcBef>
                <a:spcPts val="10"/>
              </a:spcBef>
              <a:buSzPct val="100000"/>
              <a:buFont typeface="+mj-lt"/>
              <a:buAutoNum type="arabicPeriod" startAt="1"/>
            </a:pPr>
            <a:r>
              <a:rPr lang="en-US" sz="1870" dirty="0">
                <a:solidFill>
                  <a:srgbClr val="000000"/>
                </a:solidFill>
                <a:latin typeface="Arial" pitchFamily="34" charset="0"/>
                <a:ea typeface="Arial" pitchFamily="34" charset="-122"/>
                <a:cs typeface="Arial" pitchFamily="34" charset="-120"/>
              </a:rPr>
              <a:t>Team Introduction &amp; Skillset</a:t>
            </a:r>
            <a:endParaRPr lang="en-US" sz="1600" dirty="0"/>
          </a:p>
          <a:p>
            <a:pPr marL="254000" indent="-254000">
              <a:lnSpc>
                <a:spcPct val="100000"/>
              </a:lnSpc>
              <a:spcBef>
                <a:spcPts val="10"/>
              </a:spcBef>
              <a:buSzPct val="100000"/>
              <a:buFont typeface="+mj-lt"/>
              <a:buAutoNum type="arabicPeriod" startAt="1"/>
            </a:pPr>
            <a:r>
              <a:rPr lang="en-US" sz="1870" dirty="0">
                <a:solidFill>
                  <a:srgbClr val="000000"/>
                </a:solidFill>
                <a:latin typeface="Arial" pitchFamily="34" charset="0"/>
                <a:ea typeface="Arial" pitchFamily="34" charset="-122"/>
                <a:cs typeface="Arial" pitchFamily="34" charset="-120"/>
              </a:rPr>
              <a:t>AI Use Case: NemoClaw Virtual Twin Companion</a:t>
            </a:r>
            <a:endParaRPr lang="en-US" sz="1600" dirty="0"/>
          </a:p>
          <a:p>
            <a:pPr marL="254000" indent="-254000">
              <a:lnSpc>
                <a:spcPct val="100000"/>
              </a:lnSpc>
              <a:spcBef>
                <a:spcPts val="10"/>
              </a:spcBef>
              <a:buSzPct val="100000"/>
              <a:buFont typeface="+mj-lt"/>
              <a:buAutoNum type="arabicPeriod" startAt="1"/>
            </a:pPr>
            <a:r>
              <a:rPr lang="en-US" sz="1870" dirty="0">
                <a:solidFill>
                  <a:srgbClr val="000000"/>
                </a:solidFill>
                <a:latin typeface="Arial" pitchFamily="34" charset="0"/>
                <a:ea typeface="Arial" pitchFamily="34" charset="-122"/>
                <a:cs typeface="Arial" pitchFamily="34" charset="-120"/>
              </a:rPr>
              <a:t>Tech Stack &amp; Implementation Strategy</a:t>
            </a:r>
            <a:endParaRPr lang="en-US" sz="1600" dirty="0"/>
          </a:p>
          <a:p>
            <a:pPr marL="254000" indent="-254000">
              <a:lnSpc>
                <a:spcPct val="100000"/>
              </a:lnSpc>
              <a:spcBef>
                <a:spcPts val="10"/>
              </a:spcBef>
              <a:buSzPct val="100000"/>
              <a:buFont typeface="+mj-lt"/>
              <a:buAutoNum type="arabicPeriod" startAt="1"/>
            </a:pPr>
            <a:r>
              <a:rPr lang="en-US" sz="1870" dirty="0">
                <a:solidFill>
                  <a:srgbClr val="000000"/>
                </a:solidFill>
                <a:latin typeface="Arial" pitchFamily="34" charset="0"/>
                <a:ea typeface="Arial" pitchFamily="34" charset="-122"/>
                <a:cs typeface="Arial" pitchFamily="34" charset="-120"/>
              </a:rPr>
              <a:t>Roadmap &amp; Overcoming Limitations</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alphaModFix amt="100000"/>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okc/ceterupst46ec/mnt/agents/output/converted/images/image_2.jpg">    </p:cNvPr>
          <p:cNvPicPr>
            <a:picLocks noChangeAspect="1"/>
          </p:cNvPicPr>
          <p:nvPr/>
        </p:nvPicPr>
        <p:blipFill>
          <a:blip r:embed="rId2"/>
          <a:stretch>
            <a:fillRect/>
          </a:stretch>
        </p:blipFill>
        <p:spPr>
          <a:xfrm>
            <a:off x="0" y="0"/>
            <a:ext cx="16256000" cy="9144000"/>
          </a:xfrm>
          <a:prstGeom prst="rect">
            <a:avLst/>
          </a:prstGeom>
        </p:spPr>
      </p:pic>
      <p:pic>
        <p:nvPicPr>
          <p:cNvPr id="3" name="Image 1" descr="https://kimi-img.moonshot.cn/pub/slides/okc/ceterupst46ec/mnt/agents/output/converted/images/image_3.png">    </p:cNvPr>
          <p:cNvPicPr>
            <a:picLocks noChangeAspect="1"/>
          </p:cNvPicPr>
          <p:nvPr/>
        </p:nvPicPr>
        <p:blipFill>
          <a:blip r:embed="rId3"/>
          <a:stretch>
            <a:fillRect/>
          </a:stretch>
        </p:blipFill>
        <p:spPr>
          <a:xfrm>
            <a:off x="362712" y="343789"/>
            <a:ext cx="3718179" cy="1281049"/>
          </a:xfrm>
          <a:prstGeom prst="rect">
            <a:avLst/>
          </a:prstGeom>
        </p:spPr>
      </p:pic>
      <p:sp>
        <p:nvSpPr>
          <p:cNvPr id="4" name="Shape 0"/>
          <p:cNvSpPr/>
          <p:nvPr/>
        </p:nvSpPr>
        <p:spPr>
          <a:xfrm>
            <a:off x="672465" y="1326007"/>
            <a:ext cx="8569960" cy="2194433"/>
          </a:xfrm>
          <a:prstGeom prst="rect">
            <a:avLst/>
          </a:prstGeom>
          <a:solidFill>
            <a:srgbClr val="FFFFFF">
              <a:alpha val="0"/>
            </a:srgbClr>
          </a:solidFill>
          <a:ln/>
        </p:spPr>
      </p:sp>
      <p:sp>
        <p:nvSpPr>
          <p:cNvPr id="5" name="Text 1"/>
          <p:cNvSpPr/>
          <p:nvPr/>
        </p:nvSpPr>
        <p:spPr>
          <a:xfrm>
            <a:off x="591185" y="1285367"/>
            <a:ext cx="8732520" cy="2275713"/>
          </a:xfrm>
          <a:prstGeom prst="rect">
            <a:avLst/>
          </a:prstGeom>
          <a:noFill/>
          <a:ln/>
        </p:spPr>
        <p:txBody>
          <a:bodyPr wrap="square" lIns="0" tIns="0" rIns="0" bIns="0" rtlCol="0" anchor="b"/>
          <a:lstStyle/>
          <a:p>
            <a:pPr>
              <a:lnSpc>
                <a:spcPct val="90000"/>
              </a:lnSpc>
            </a:pPr>
            <a:r>
              <a:rPr lang="en-US" sz="3870" b="1" dirty="0">
                <a:solidFill>
                  <a:srgbClr val="000000"/>
                </a:solidFill>
                <a:latin typeface="NVIDIA Sans" pitchFamily="34" charset="0"/>
                <a:ea typeface="NVIDIA Sans" pitchFamily="34" charset="-122"/>
                <a:cs typeface="NVIDIA Sans" pitchFamily="34" charset="-120"/>
              </a:rPr>
              <a:t>TEAM INTRODUCTION</a:t>
            </a:r>
            <a:endParaRPr lang="en-US" sz="1600" dirty="0"/>
          </a:p>
        </p:txBody>
      </p:sp>
      <p:sp>
        <p:nvSpPr>
          <p:cNvPr id="6" name="Shape 2"/>
          <p:cNvSpPr/>
          <p:nvPr/>
        </p:nvSpPr>
        <p:spPr>
          <a:xfrm>
            <a:off x="672465" y="3529711"/>
            <a:ext cx="10755249" cy="757174"/>
          </a:xfrm>
          <a:prstGeom prst="rect">
            <a:avLst/>
          </a:prstGeom>
          <a:solidFill>
            <a:srgbClr val="FFFFFF">
              <a:alpha val="0"/>
            </a:srgbClr>
          </a:solidFill>
          <a:ln/>
        </p:spPr>
      </p:sp>
      <p:sp>
        <p:nvSpPr>
          <p:cNvPr id="7" name="Text 3"/>
          <p:cNvSpPr/>
          <p:nvPr/>
        </p:nvSpPr>
        <p:spPr>
          <a:xfrm>
            <a:off x="591185" y="3489071"/>
            <a:ext cx="10917809" cy="838454"/>
          </a:xfrm>
          <a:prstGeom prst="rect">
            <a:avLst/>
          </a:prstGeom>
          <a:noFill/>
          <a:ln/>
        </p:spPr>
        <p:txBody>
          <a:bodyPr wrap="square" lIns="0" tIns="0" rIns="0" bIns="0" rtlCol="0" anchor="t"/>
          <a:lstStyle/>
          <a:p>
            <a:pPr>
              <a:lnSpc>
                <a:spcPct val="90000"/>
              </a:lnSpc>
            </a:pPr>
            <a:r>
              <a:rPr lang="en-US" sz="1550" dirty="0">
                <a:solidFill>
                  <a:srgbClr val="000000"/>
                </a:solidFill>
                <a:latin typeface="NVIDIA Sans" pitchFamily="34" charset="0"/>
                <a:ea typeface="NVIDIA Sans" pitchFamily="34" charset="-122"/>
                <a:cs typeface="NVIDIA Sans" pitchFamily="34" charset="-120"/>
              </a:rPr>
              <a:t>SKILLSET / EXPERIENCE</a:t>
            </a:r>
            <a:endParaRPr lang="en-US" sz="1600" dirty="0"/>
          </a:p>
        </p:txBody>
      </p:sp>
      <p:pic>
        <p:nvPicPr>
          <p:cNvPr id="8" name="Image 2" descr="https://kimi-img.moonshot.cn/pub/slides/okc/ceterupst46ec/mnt/agents/output/converted/images/image_4.png">    </p:cNvPr>
          <p:cNvPicPr>
            <a:picLocks noChangeAspect="1"/>
          </p:cNvPicPr>
          <p:nvPr/>
        </p:nvPicPr>
        <p:blipFill>
          <a:blip r:embed="rId4"/>
          <a:stretch>
            <a:fillRect/>
          </a:stretch>
        </p:blipFill>
        <p:spPr>
          <a:xfrm>
            <a:off x="505333" y="8140573"/>
            <a:ext cx="2640711" cy="757174"/>
          </a:xfrm>
          <a:prstGeom prst="rect">
            <a:avLst/>
          </a:prstGeom>
        </p:spPr>
      </p:pic>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185261" y="8749157"/>
            <a:ext cx="69088" cy="395478"/>
          </a:xfrm>
          <a:prstGeom prst="rect">
            <a:avLst/>
          </a:prstGeom>
          <a:solidFill>
            <a:srgbClr val="76B900"/>
          </a:solidFill>
          <a:ln/>
        </p:spPr>
      </p:sp>
      <p:pic>
        <p:nvPicPr>
          <p:cNvPr id="3" name="Image 0" descr="https://kimi-img.moonshot.cn/pub/slides/okc/ceterupst46ec/mnt/agents/output/converted/images/image_3.png">    </p:cNvPr>
          <p:cNvPicPr>
            <a:picLocks noChangeAspect="1"/>
          </p:cNvPicPr>
          <p:nvPr/>
        </p:nvPicPr>
        <p:blipFill>
          <a:blip r:embed="rId1"/>
          <a:stretch>
            <a:fillRect/>
          </a:stretch>
        </p:blipFill>
        <p:spPr>
          <a:xfrm>
            <a:off x="15136876" y="8667750"/>
            <a:ext cx="890270" cy="306705"/>
          </a:xfrm>
          <a:prstGeom prst="rect">
            <a:avLst/>
          </a:prstGeom>
        </p:spPr>
      </p:pic>
      <p:pic>
        <p:nvPicPr>
          <p:cNvPr id="4" name="Image 1" descr="https://kimi-img.moonshot.cn/pub/slides/okc/ceterupst46ec/mnt/agents/output/converted/images/image_4.png">    </p:cNvPr>
          <p:cNvPicPr>
            <a:picLocks noChangeAspect="1"/>
          </p:cNvPicPr>
          <p:nvPr/>
        </p:nvPicPr>
        <p:blipFill>
          <a:blip r:embed="rId2"/>
          <a:stretch>
            <a:fillRect/>
          </a:stretch>
        </p:blipFill>
        <p:spPr>
          <a:xfrm>
            <a:off x="505333" y="8140573"/>
            <a:ext cx="2640711" cy="757174"/>
          </a:xfrm>
          <a:prstGeom prst="rect">
            <a:avLst/>
          </a:prstGeom>
        </p:spPr>
      </p:pic>
      <p:sp>
        <p:nvSpPr>
          <p:cNvPr id="5" name="Text 1"/>
          <p:cNvSpPr/>
          <p:nvPr/>
        </p:nvSpPr>
        <p:spPr>
          <a:xfrm>
            <a:off x="1628902" y="3097911"/>
            <a:ext cx="13021564" cy="492379"/>
          </a:xfrm>
          <a:prstGeom prst="rect">
            <a:avLst/>
          </a:prstGeom>
          <a:noFill/>
          <a:ln/>
        </p:spPr>
        <p:txBody>
          <a:bodyPr wrap="square" lIns="0" tIns="0" rIns="0" bIns="0" rtlCol="0" anchor="t"/>
          <a:lstStyle/>
          <a:p>
            <a:pPr>
              <a:lnSpc>
                <a:spcPct val="100000"/>
              </a:lnSpc>
            </a:pPr>
            <a:endParaRPr lang="en-US" sz="1600" dirty="0"/>
          </a:p>
        </p:txBody>
      </p:sp>
      <p:sp>
        <p:nvSpPr>
          <p:cNvPr id="6" name="Text 2"/>
          <p:cNvSpPr/>
          <p:nvPr/>
        </p:nvSpPr>
        <p:spPr>
          <a:xfrm>
            <a:off x="1342009" y="643763"/>
            <a:ext cx="9379204" cy="941959"/>
          </a:xfrm>
          <a:prstGeom prst="rect">
            <a:avLst/>
          </a:prstGeom>
          <a:noFill/>
          <a:ln/>
        </p:spPr>
        <p:txBody>
          <a:bodyPr wrap="square" lIns="0" tIns="0" rIns="0" bIns="0" rtlCol="0" anchor="t"/>
          <a:lstStyle/>
          <a:p>
            <a:pPr>
              <a:lnSpc>
                <a:spcPct val="114000"/>
              </a:lnSpc>
            </a:pPr>
            <a:r>
              <a:rPr lang="en-US" sz="2130" b="1" dirty="0">
                <a:solidFill>
                  <a:srgbClr val="000000"/>
                </a:solidFill>
                <a:latin typeface="Arial" pitchFamily="34" charset="0"/>
                <a:ea typeface="Arial" pitchFamily="34" charset="-122"/>
                <a:cs typeface="Arial" pitchFamily="34" charset="-120"/>
              </a:rPr>
              <a:t>Skillset / Experience</a:t>
            </a:r>
            <a:endParaRPr lang="en-US" sz="1600" dirty="0"/>
          </a:p>
        </p:txBody>
      </p:sp>
      <p:sp>
        <p:nvSpPr>
          <p:cNvPr id="7" name="Text 3"/>
          <p:cNvSpPr/>
          <p:nvPr/>
        </p:nvSpPr>
        <p:spPr>
          <a:xfrm>
            <a:off x="1333500" y="1651000"/>
            <a:ext cx="13589000" cy="6350000"/>
          </a:xfrm>
          <a:prstGeom prst="rect">
            <a:avLst/>
          </a:prstGeom>
          <a:noFill/>
          <a:ln/>
        </p:spPr>
        <p:txBody>
          <a:bodyPr wrap="square" lIns="0" tIns="0" rIns="0" bIns="0" rtlCol="0" anchor="t"/>
          <a:lstStyle/>
          <a:p>
            <a:pPr>
              <a:lnSpc>
                <a:spcPct val="130000"/>
              </a:lnSpc>
            </a:pPr>
            <a:r>
              <a:rPr lang="en-US" sz="1500" b="1" dirty="0">
                <a:solidFill>
                  <a:srgbClr val="000000"/>
                </a:solidFill>
                <a:latin typeface="Arial" pitchFamily="34" charset="0"/>
                <a:ea typeface="Arial" pitchFamily="34" charset="-122"/>
                <a:cs typeface="Arial" pitchFamily="34" charset="-120"/>
              </a:rPr>
              <a:t>Organization Details:</a:t>
            </a:r>
            <a:pPr>
              <a:lnSpc>
                <a:spcPct val="130000"/>
              </a:lnSpc>
            </a:pPr>
            <a:r>
              <a:rPr lang="en-US" sz="1500" dirty="0">
                <a:solidFill>
                  <a:srgbClr val="000000"/>
                </a:solidFill>
                <a:latin typeface="Arial" pitchFamily="34" charset="0"/>
                <a:ea typeface="Arial" pitchFamily="34" charset="-122"/>
                <a:cs typeface="Arial" pitchFamily="34" charset="-120"/>
              </a:rPr>
              <a:t> Enterprise PLM Professionals (Independent Participation).</a:t>
            </a:r>
            <a:endParaRPr lang="en-US" sz="1600" dirty="0"/>
          </a:p>
          <a:p>
            <a:pPr>
              <a:lnSpc>
                <a:spcPct val="130000"/>
              </a:lnSpc>
            </a:pPr>
            <a:r>
              <a:rPr lang="en-US" sz="1500" b="1" dirty="0">
                <a:solidFill>
                  <a:srgbClr val="000000"/>
                </a:solidFill>
                <a:latin typeface="Arial" pitchFamily="34" charset="0"/>
                <a:ea typeface="Arial" pitchFamily="34" charset="-122"/>
                <a:cs typeface="Arial" pitchFamily="34" charset="-120"/>
              </a:rPr>
              <a:t>Agentic AI &amp; Tools Skillset:</a:t>
            </a:r>
            <a:endParaRPr lang="en-US" sz="1600" dirty="0"/>
          </a:p>
          <a:p>
            <a:pPr marL="254000" indent="-254000">
              <a:lnSpc>
                <a:spcPct val="130000"/>
              </a:lnSpc>
              <a:spcBef>
                <a:spcPts val="10"/>
              </a:spcBef>
              <a:buSzPct val="100000"/>
              <a:buChar char="•"/>
            </a:pPr>
            <a:r>
              <a:rPr lang="en-US" sz="1500" dirty="0">
                <a:solidFill>
                  <a:srgbClr val="000000"/>
                </a:solidFill>
                <a:latin typeface="Arial" pitchFamily="34" charset="0"/>
                <a:ea typeface="Arial" pitchFamily="34" charset="-122"/>
                <a:cs typeface="Arial" pitchFamily="34" charset="-120"/>
              </a:rPr>
              <a:t>Extensive domain expertise in CATIA, 3DEXPERIENCE, and complex engineering product lifecycles.</a:t>
            </a:r>
            <a:endParaRPr lang="en-US" sz="1600" dirty="0"/>
          </a:p>
          <a:p>
            <a:pPr marL="254000" indent="-254000">
              <a:lnSpc>
                <a:spcPct val="130000"/>
              </a:lnSpc>
              <a:spcBef>
                <a:spcPts val="10"/>
              </a:spcBef>
              <a:buSzPct val="100000"/>
              <a:buChar char="•"/>
            </a:pPr>
            <a:r>
              <a:rPr lang="en-US" sz="1500" dirty="0">
                <a:solidFill>
                  <a:srgbClr val="000000"/>
                </a:solidFill>
                <a:latin typeface="Arial" pitchFamily="34" charset="0"/>
                <a:ea typeface="Arial" pitchFamily="34" charset="-122"/>
                <a:cs typeface="Arial" pitchFamily="34" charset="-120"/>
              </a:rPr>
              <a:t>Strong background in software quality engineering, Java microservices architecture, and API integration.</a:t>
            </a:r>
            <a:endParaRPr lang="en-US" sz="1600" dirty="0"/>
          </a:p>
          <a:p>
            <a:pPr marL="254000" indent="-254000">
              <a:lnSpc>
                <a:spcPct val="130000"/>
              </a:lnSpc>
              <a:spcBef>
                <a:spcPts val="10"/>
              </a:spcBef>
              <a:buSzPct val="100000"/>
              <a:buChar char="•"/>
            </a:pPr>
            <a:r>
              <a:rPr lang="en-US" sz="1500" dirty="0">
                <a:solidFill>
                  <a:srgbClr val="000000"/>
                </a:solidFill>
                <a:latin typeface="Arial" pitchFamily="34" charset="0"/>
                <a:ea typeface="Arial" pitchFamily="34" charset="-122"/>
                <a:cs typeface="Arial" pitchFamily="34" charset="-120"/>
              </a:rPr>
              <a:t>Experience architecting AI review frameworks, Model Context Protocol (MCP) servers, and managing strict YAML-based infrastructure configurations for agentic tools.</a:t>
            </a:r>
            <a:endParaRPr lang="en-US" sz="1600" dirty="0"/>
          </a:p>
          <a:p>
            <a:pPr>
              <a:lnSpc>
                <a:spcPct val="130000"/>
              </a:lnSpc>
            </a:pPr>
            <a:r>
              <a:rPr lang="en-US" sz="1500" b="1" dirty="0">
                <a:solidFill>
                  <a:srgbClr val="000000"/>
                </a:solidFill>
                <a:latin typeface="Arial" pitchFamily="34" charset="0"/>
                <a:ea typeface="Arial" pitchFamily="34" charset="-122"/>
                <a:cs typeface="Arial" pitchFamily="34" charset="-120"/>
              </a:rPr>
              <a:t>Current AI Deployment Setup:</a:t>
            </a:r>
            <a:pPr>
              <a:lnSpc>
                <a:spcPct val="130000"/>
              </a:lnSpc>
            </a:pPr>
            <a:r>
              <a:rPr lang="en-US" sz="1500" dirty="0">
                <a:solidFill>
                  <a:srgbClr val="000000"/>
                </a:solidFill>
                <a:latin typeface="Arial" pitchFamily="34" charset="0"/>
                <a:ea typeface="Arial" pitchFamily="34" charset="-122"/>
                <a:cs typeface="Arial" pitchFamily="34" charset="-120"/>
              </a:rPr>
              <a:t> Utilizing Claude/GPT models via API for codebase analysis, context engineering (Parent-Child models), and RAG pipeline development.</a:t>
            </a:r>
            <a:endParaRPr lang="en-US" sz="1600" dirty="0"/>
          </a:p>
          <a:p>
            <a:pPr>
              <a:lnSpc>
                <a:spcPct val="130000"/>
              </a:lnSpc>
            </a:pPr>
            <a:r>
              <a:rPr lang="en-US" sz="1500" b="1" dirty="0">
                <a:solidFill>
                  <a:srgbClr val="000000"/>
                </a:solidFill>
                <a:latin typeface="Arial" pitchFamily="34" charset="0"/>
                <a:ea typeface="Arial" pitchFamily="34" charset="-122"/>
                <a:cs typeface="Arial" pitchFamily="34" charset="-120"/>
              </a:rPr>
              <a:t>NVIDIA SDK Experience:</a:t>
            </a:r>
            <a:pPr>
              <a:lnSpc>
                <a:spcPct val="130000"/>
              </a:lnSpc>
            </a:pPr>
            <a:r>
              <a:rPr lang="en-US" sz="1500" dirty="0">
                <a:solidFill>
                  <a:srgbClr val="000000"/>
                </a:solidFill>
                <a:latin typeface="Arial" pitchFamily="34" charset="0"/>
                <a:ea typeface="Arial" pitchFamily="34" charset="-122"/>
                <a:cs typeface="Arial" pitchFamily="34" charset="-120"/>
              </a:rPr>
              <a:t> Currently familiarizing with the NeMo Agent Toolkit and NemoClaw runtime for secure, sandboxed agent execution.</a:t>
            </a:r>
            <a:endParaRPr lang="en-US" sz="1600" dirty="0"/>
          </a:p>
          <a:p>
            <a:pPr>
              <a:lnSpc>
                <a:spcPct val="130000"/>
              </a:lnSpc>
            </a:pPr>
            <a:r>
              <a:rPr lang="en-US" sz="1500" b="1" dirty="0">
                <a:solidFill>
                  <a:srgbClr val="000000"/>
                </a:solidFill>
                <a:latin typeface="Arial" pitchFamily="34" charset="0"/>
                <a:ea typeface="Arial" pitchFamily="34" charset="-122"/>
                <a:cs typeface="Arial" pitchFamily="34" charset="-120"/>
              </a:rPr>
              <a:t>Past Hackathon Experience:</a:t>
            </a:r>
            <a:pPr>
              <a:lnSpc>
                <a:spcPct val="130000"/>
              </a:lnSpc>
            </a:pPr>
            <a:r>
              <a:rPr lang="en-US" sz="1500" dirty="0">
                <a:solidFill>
                  <a:srgbClr val="000000"/>
                </a:solidFill>
                <a:latin typeface="Arial" pitchFamily="34" charset="0"/>
                <a:ea typeface="Arial" pitchFamily="34" charset="-122"/>
                <a:cs typeface="Arial" pitchFamily="34" charset="-120"/>
              </a:rPr>
              <a:t> [Insert any past hackathon wins or participations here, or remove if none].</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alphaModFix amt="100000"/>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okc/ceterupst46ec/mnt/agents/output/converted/images/image_2.jpg">    </p:cNvPr>
          <p:cNvPicPr>
            <a:picLocks noChangeAspect="1"/>
          </p:cNvPicPr>
          <p:nvPr/>
        </p:nvPicPr>
        <p:blipFill>
          <a:blip r:embed="rId2"/>
          <a:stretch>
            <a:fillRect/>
          </a:stretch>
        </p:blipFill>
        <p:spPr>
          <a:xfrm>
            <a:off x="0" y="0"/>
            <a:ext cx="16256000" cy="9144000"/>
          </a:xfrm>
          <a:prstGeom prst="rect">
            <a:avLst/>
          </a:prstGeom>
        </p:spPr>
      </p:pic>
      <p:pic>
        <p:nvPicPr>
          <p:cNvPr id="3" name="Image 1" descr="https://kimi-img.moonshot.cn/pub/slides/okc/ceterupst46ec/mnt/agents/output/converted/images/image_3.png">    </p:cNvPr>
          <p:cNvPicPr>
            <a:picLocks noChangeAspect="1"/>
          </p:cNvPicPr>
          <p:nvPr/>
        </p:nvPicPr>
        <p:blipFill>
          <a:blip r:embed="rId3"/>
          <a:stretch>
            <a:fillRect/>
          </a:stretch>
        </p:blipFill>
        <p:spPr>
          <a:xfrm>
            <a:off x="362712" y="343789"/>
            <a:ext cx="3718179" cy="1281049"/>
          </a:xfrm>
          <a:prstGeom prst="rect">
            <a:avLst/>
          </a:prstGeom>
        </p:spPr>
      </p:pic>
      <p:sp>
        <p:nvSpPr>
          <p:cNvPr id="4" name="Shape 0"/>
          <p:cNvSpPr/>
          <p:nvPr/>
        </p:nvSpPr>
        <p:spPr>
          <a:xfrm>
            <a:off x="672465" y="1326007"/>
            <a:ext cx="8569960" cy="2194433"/>
          </a:xfrm>
          <a:prstGeom prst="rect">
            <a:avLst/>
          </a:prstGeom>
          <a:solidFill>
            <a:srgbClr val="FFFFFF">
              <a:alpha val="0"/>
            </a:srgbClr>
          </a:solidFill>
          <a:ln/>
        </p:spPr>
      </p:sp>
      <p:sp>
        <p:nvSpPr>
          <p:cNvPr id="5" name="Text 1"/>
          <p:cNvSpPr/>
          <p:nvPr/>
        </p:nvSpPr>
        <p:spPr>
          <a:xfrm>
            <a:off x="591185" y="1285367"/>
            <a:ext cx="8732520" cy="2275713"/>
          </a:xfrm>
          <a:prstGeom prst="rect">
            <a:avLst/>
          </a:prstGeom>
          <a:noFill/>
          <a:ln/>
        </p:spPr>
        <p:txBody>
          <a:bodyPr wrap="square" lIns="0" tIns="0" rIns="0" bIns="0" rtlCol="0" anchor="b"/>
          <a:lstStyle/>
          <a:p>
            <a:pPr>
              <a:lnSpc>
                <a:spcPct val="90000"/>
              </a:lnSpc>
            </a:pPr>
            <a:r>
              <a:rPr lang="en-US" sz="3870" b="1" dirty="0">
                <a:solidFill>
                  <a:srgbClr val="000000"/>
                </a:solidFill>
                <a:latin typeface="NVIDIA Sans" pitchFamily="34" charset="0"/>
                <a:ea typeface="NVIDIA Sans" pitchFamily="34" charset="-122"/>
                <a:cs typeface="NVIDIA Sans" pitchFamily="34" charset="-120"/>
              </a:rPr>
              <a:t>AI Use Case</a:t>
            </a:r>
            <a:endParaRPr lang="en-US" sz="1600" dirty="0"/>
          </a:p>
        </p:txBody>
      </p:sp>
      <p:sp>
        <p:nvSpPr>
          <p:cNvPr id="6" name="Shape 2"/>
          <p:cNvSpPr/>
          <p:nvPr/>
        </p:nvSpPr>
        <p:spPr>
          <a:xfrm>
            <a:off x="672465" y="3529711"/>
            <a:ext cx="10755249" cy="757174"/>
          </a:xfrm>
          <a:prstGeom prst="rect">
            <a:avLst/>
          </a:prstGeom>
          <a:solidFill>
            <a:srgbClr val="FFFFFF">
              <a:alpha val="0"/>
            </a:srgbClr>
          </a:solidFill>
          <a:ln/>
        </p:spPr>
      </p:sp>
      <p:sp>
        <p:nvSpPr>
          <p:cNvPr id="7" name="Text 3"/>
          <p:cNvSpPr/>
          <p:nvPr/>
        </p:nvSpPr>
        <p:spPr>
          <a:xfrm>
            <a:off x="591185" y="3489071"/>
            <a:ext cx="10917809" cy="838454"/>
          </a:xfrm>
          <a:prstGeom prst="rect">
            <a:avLst/>
          </a:prstGeom>
          <a:noFill/>
          <a:ln/>
        </p:spPr>
        <p:txBody>
          <a:bodyPr wrap="square" lIns="0" tIns="0" rIns="0" bIns="0" rtlCol="0" anchor="t"/>
          <a:lstStyle/>
          <a:p>
            <a:pPr>
              <a:lnSpc>
                <a:spcPct val="90000"/>
              </a:lnSpc>
            </a:pPr>
            <a:r>
              <a:rPr lang="en-US" sz="2000" dirty="0">
                <a:solidFill>
                  <a:srgbClr val="000000"/>
                </a:solidFill>
                <a:latin typeface="NVIDIA Sans" pitchFamily="34" charset="0"/>
                <a:ea typeface="NVIDIA Sans" pitchFamily="34" charset="-122"/>
                <a:cs typeface="NVIDIA Sans" pitchFamily="34" charset="-120"/>
              </a:rPr>
              <a:t>Expand on your project</a:t>
            </a:r>
            <a:endParaRPr lang="en-US" sz="1600" dirty="0"/>
          </a:p>
        </p:txBody>
      </p:sp>
      <p:pic>
        <p:nvPicPr>
          <p:cNvPr id="8" name="Image 2" descr="https://kimi-img.moonshot.cn/pub/slides/okc/ceterupst46ec/mnt/agents/output/converted/images/image_4.png">    </p:cNvPr>
          <p:cNvPicPr>
            <a:picLocks noChangeAspect="1"/>
          </p:cNvPicPr>
          <p:nvPr/>
        </p:nvPicPr>
        <p:blipFill>
          <a:blip r:embed="rId4"/>
          <a:stretch>
            <a:fillRect/>
          </a:stretch>
        </p:blipFill>
        <p:spPr>
          <a:xfrm>
            <a:off x="505333" y="8140573"/>
            <a:ext cx="2640711" cy="757174"/>
          </a:xfrm>
          <a:prstGeom prst="rect">
            <a:avLst/>
          </a:prstGeom>
        </p:spPr>
      </p:pic>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6185261" y="8749157"/>
            <a:ext cx="69088" cy="395478"/>
          </a:xfrm>
          <a:prstGeom prst="rect">
            <a:avLst/>
          </a:prstGeom>
          <a:solidFill>
            <a:srgbClr val="76B900"/>
          </a:solidFill>
          <a:ln/>
        </p:spPr>
      </p:sp>
      <p:pic>
        <p:nvPicPr>
          <p:cNvPr id="4" name="Image 0" descr="https://kimi-img.moonshot.cn/pub/slides/okc/ceterupst46ec/mnt/agents/output/converted/images/image_3.png">    </p:cNvPr>
          <p:cNvPicPr>
            <a:picLocks noChangeAspect="1"/>
          </p:cNvPicPr>
          <p:nvPr/>
        </p:nvPicPr>
        <p:blipFill>
          <a:blip r:embed="rId1"/>
          <a:stretch>
            <a:fillRect/>
          </a:stretch>
        </p:blipFill>
        <p:spPr>
          <a:xfrm>
            <a:off x="15136876" y="8667750"/>
            <a:ext cx="890270" cy="306705"/>
          </a:xfrm>
          <a:prstGeom prst="rect">
            <a:avLst/>
          </a:prstGeom>
        </p:spPr>
      </p:pic>
      <p:pic>
        <p:nvPicPr>
          <p:cNvPr id="5" name="Image 1" descr="https://kimi-img.moonshot.cn/pub/slides/okc/ceterupst46ec/mnt/agents/output/converted/images/image_4.png">    </p:cNvPr>
          <p:cNvPicPr>
            <a:picLocks noChangeAspect="1"/>
          </p:cNvPicPr>
          <p:nvPr/>
        </p:nvPicPr>
        <p:blipFill>
          <a:blip r:embed="rId2"/>
          <a:stretch>
            <a:fillRect/>
          </a:stretch>
        </p:blipFill>
        <p:spPr>
          <a:xfrm>
            <a:off x="505333" y="8140573"/>
            <a:ext cx="2640711" cy="757174"/>
          </a:xfrm>
          <a:prstGeom prst="rect">
            <a:avLst/>
          </a:prstGeom>
        </p:spPr>
      </p:pic>
      <p:sp>
        <p:nvSpPr>
          <p:cNvPr id="6" name="Text 1"/>
          <p:cNvSpPr/>
          <p:nvPr/>
        </p:nvSpPr>
        <p:spPr>
          <a:xfrm>
            <a:off x="1628902" y="3097911"/>
            <a:ext cx="13021564" cy="492379"/>
          </a:xfrm>
          <a:prstGeom prst="rect">
            <a:avLst/>
          </a:prstGeom>
          <a:noFill/>
          <a:ln/>
        </p:spPr>
        <p:txBody>
          <a:bodyPr wrap="square" lIns="0" tIns="0" rIns="0" bIns="0" rtlCol="0" anchor="t"/>
          <a:lstStyle/>
          <a:p>
            <a:pPr>
              <a:lnSpc>
                <a:spcPct val="100000"/>
              </a:lnSpc>
            </a:pPr>
            <a:endParaRPr lang="en-US" sz="1600" dirty="0"/>
          </a:p>
        </p:txBody>
      </p:sp>
      <p:sp>
        <p:nvSpPr>
          <p:cNvPr id="7" name="Text 2"/>
          <p:cNvSpPr/>
          <p:nvPr/>
        </p:nvSpPr>
        <p:spPr>
          <a:xfrm>
            <a:off x="1342009" y="643763"/>
            <a:ext cx="9379204" cy="941959"/>
          </a:xfrm>
          <a:prstGeom prst="rect">
            <a:avLst/>
          </a:prstGeom>
          <a:noFill/>
          <a:ln/>
        </p:spPr>
        <p:txBody>
          <a:bodyPr wrap="square" lIns="0" tIns="0" rIns="0" bIns="0" rtlCol="0" anchor="t"/>
          <a:lstStyle/>
          <a:p>
            <a:pPr>
              <a:lnSpc>
                <a:spcPct val="114000"/>
              </a:lnSpc>
            </a:pPr>
            <a:r>
              <a:rPr lang="en-US" sz="2130" b="1" dirty="0">
                <a:solidFill>
                  <a:srgbClr val="000000"/>
                </a:solidFill>
                <a:latin typeface="Arial" pitchFamily="34" charset="0"/>
                <a:ea typeface="Arial" pitchFamily="34" charset="-122"/>
                <a:cs typeface="Arial" pitchFamily="34" charset="-120"/>
              </a:rPr>
              <a:t>AI Use Case: NemoClaw Virtual Twin Companion (VTC)</a:t>
            </a:r>
            <a:endParaRPr lang="en-US" sz="1600" dirty="0"/>
          </a:p>
          <a:p>
            <a:pPr>
              <a:lnSpc>
                <a:spcPct val="114000"/>
              </a:lnSpc>
            </a:pPr>
            <a:r>
              <a:rPr lang="en-US" sz="2130" i="1" dirty="0">
                <a:solidFill>
                  <a:srgbClr val="000000"/>
                </a:solidFill>
                <a:latin typeface="Arial" pitchFamily="34" charset="0"/>
                <a:ea typeface="Arial" pitchFamily="34" charset="-122"/>
                <a:cs typeface="Arial" pitchFamily="34" charset="-120"/>
              </a:rPr>
              <a:t>Parametric Drone Optimizer</a:t>
            </a:r>
            <a:endParaRPr lang="en-US" sz="1600" dirty="0"/>
          </a:p>
        </p:txBody>
      </p:sp>
      <p:sp>
        <p:nvSpPr>
          <p:cNvPr id="8" name="Text 3"/>
          <p:cNvSpPr/>
          <p:nvPr/>
        </p:nvSpPr>
        <p:spPr>
          <a:xfrm>
            <a:off x="1333500" y="1778000"/>
            <a:ext cx="10795000" cy="6477000"/>
          </a:xfrm>
          <a:prstGeom prst="rect">
            <a:avLst/>
          </a:prstGeom>
          <a:noFill/>
          <a:ln/>
        </p:spPr>
        <p:txBody>
          <a:bodyPr wrap="square" lIns="0" tIns="0" rIns="0" bIns="0" rtlCol="0" anchor="t"/>
          <a:lstStyle/>
          <a:p>
            <a:pPr>
              <a:lnSpc>
                <a:spcPct val="135000"/>
              </a:lnSpc>
            </a:pPr>
            <a:r>
              <a:rPr lang="en-US" sz="1350" b="1" dirty="0">
                <a:solidFill>
                  <a:srgbClr val="000000"/>
                </a:solidFill>
                <a:latin typeface="Arial" pitchFamily="34" charset="0"/>
                <a:ea typeface="Arial" pitchFamily="34" charset="-122"/>
                <a:cs typeface="Arial" pitchFamily="34" charset="-120"/>
              </a:rPr>
              <a:t>Project Description:</a:t>
            </a:r>
            <a:pPr>
              <a:lnSpc>
                <a:spcPct val="135000"/>
              </a:lnSpc>
            </a:pPr>
            <a:r>
              <a:rPr lang="en-US" sz="1350" dirty="0">
                <a:solidFill>
                  <a:srgbClr val="000000"/>
                </a:solidFill>
                <a:latin typeface="Arial" pitchFamily="34" charset="0"/>
                <a:ea typeface="Arial" pitchFamily="34" charset="-122"/>
                <a:cs typeface="Arial" pitchFamily="34" charset="-120"/>
              </a:rPr>
              <a:t> A multi-agent engineering assistant that ingests natural language specifications (e.g., thrust load, max weight). An Orchestrator routes tasks to a Design Agent (modifies a parametric CadQuery Python script for an X-Frame drone) and a Validator Agent (evaluates outputs against a RAG compliance database). The system iterates autonomously to meet safety margins, outputting a manufacturing-ready .STEP file.</a:t>
            </a:r>
            <a:endParaRPr lang="en-US" sz="1600" dirty="0"/>
          </a:p>
          <a:p>
            <a:pPr>
              <a:lnSpc>
                <a:spcPct val="135000"/>
              </a:lnSpc>
            </a:pPr>
            <a:r>
              <a:rPr lang="en-US" sz="1350" b="1" dirty="0">
                <a:solidFill>
                  <a:srgbClr val="000000"/>
                </a:solidFill>
                <a:latin typeface="Arial" pitchFamily="34" charset="0"/>
                <a:ea typeface="Arial" pitchFamily="34" charset="-122"/>
                <a:cs typeface="Arial" pitchFamily="34" charset="-120"/>
              </a:rPr>
              <a:t>Project Motivation:</a:t>
            </a:r>
            <a:pPr>
              <a:lnSpc>
                <a:spcPct val="135000"/>
              </a:lnSpc>
            </a:pPr>
            <a:r>
              <a:rPr lang="en-US" sz="1350" dirty="0">
                <a:solidFill>
                  <a:srgbClr val="000000"/>
                </a:solidFill>
                <a:latin typeface="Arial" pitchFamily="34" charset="0"/>
                <a:ea typeface="Arial" pitchFamily="34" charset="-122"/>
                <a:cs typeface="Arial" pitchFamily="34" charset="-120"/>
              </a:rPr>
              <a:t> Industrial design is bottlenecked by manual geometry updates and decoupled compliance checks. Drawing from our PLM background, we aim to demonstrate a deterministic "Virtual Companion" that bridges text-based AI reasoning with exact, executable 3D math, preventing the spatial hallucinations common in standard LLMs.</a:t>
            </a:r>
            <a:endParaRPr lang="en-US" sz="1600" dirty="0"/>
          </a:p>
          <a:p>
            <a:pPr>
              <a:lnSpc>
                <a:spcPct val="135000"/>
              </a:lnSpc>
            </a:pPr>
            <a:r>
              <a:rPr lang="en-US" sz="1350" b="1" dirty="0">
                <a:solidFill>
                  <a:srgbClr val="000000"/>
                </a:solidFill>
                <a:latin typeface="Arial" pitchFamily="34" charset="0"/>
                <a:ea typeface="Arial" pitchFamily="34" charset="-122"/>
                <a:cs typeface="Arial" pitchFamily="34" charset="-120"/>
              </a:rPr>
              <a:t>Dataset for Training &amp; Inferencing:</a:t>
            </a:r>
            <a:endParaRPr lang="en-US" sz="1600" dirty="0"/>
          </a:p>
          <a:p>
            <a:pPr marL="254000" indent="-254000">
              <a:lnSpc>
                <a:spcPct val="135000"/>
              </a:lnSpc>
              <a:spcBef>
                <a:spcPts val="10"/>
              </a:spcBef>
              <a:buSzPct val="100000"/>
              <a:buChar char="•"/>
            </a:pPr>
            <a:r>
              <a:rPr lang="en-US" sz="1350" b="1" dirty="0">
                <a:solidFill>
                  <a:srgbClr val="000000"/>
                </a:solidFill>
                <a:latin typeface="Arial" pitchFamily="34" charset="0"/>
                <a:ea typeface="Arial" pitchFamily="34" charset="-122"/>
                <a:cs typeface="Arial" pitchFamily="34" charset="-120"/>
              </a:rPr>
              <a:t>Existing/Planned:</a:t>
            </a:r>
            <a:pPr>
              <a:lnSpc>
                <a:spcPct val="135000"/>
              </a:lnSpc>
              <a:spcBef>
                <a:spcPts val="10"/>
              </a:spcBef>
            </a:pPr>
            <a:r>
              <a:rPr lang="en-US" sz="1350" dirty="0">
                <a:solidFill>
                  <a:srgbClr val="000000"/>
                </a:solidFill>
                <a:latin typeface="Arial" pitchFamily="34" charset="0"/>
                <a:ea typeface="Arial" pitchFamily="34" charset="-122"/>
                <a:cs typeface="Arial" pitchFamily="34" charset="-120"/>
              </a:rPr>
              <a:t> A synthetic JSONL dataset mapping natural language engineering prompts to specific Python parametric variable configurations (our "Master Drone Template").</a:t>
            </a:r>
            <a:endParaRPr lang="en-US" sz="1600" dirty="0"/>
          </a:p>
          <a:p>
            <a:pPr marL="254000" indent="-254000">
              <a:lnSpc>
                <a:spcPct val="135000"/>
              </a:lnSpc>
              <a:spcBef>
                <a:spcPts val="10"/>
              </a:spcBef>
              <a:buSzPct val="100000"/>
              <a:buChar char="•"/>
            </a:pPr>
            <a:r>
              <a:rPr lang="en-US" sz="1350" b="1" dirty="0">
                <a:solidFill>
                  <a:srgbClr val="000000"/>
                </a:solidFill>
                <a:latin typeface="Arial" pitchFamily="34" charset="0"/>
                <a:ea typeface="Arial" pitchFamily="34" charset="-122"/>
                <a:cs typeface="Arial" pitchFamily="34" charset="-120"/>
              </a:rPr>
              <a:t>Scale:</a:t>
            </a:r>
            <a:pPr>
              <a:lnSpc>
                <a:spcPct val="135000"/>
              </a:lnSpc>
              <a:spcBef>
                <a:spcPts val="10"/>
              </a:spcBef>
            </a:pPr>
            <a:r>
              <a:rPr lang="en-US" sz="1350" dirty="0">
                <a:solidFill>
                  <a:srgbClr val="000000"/>
                </a:solidFill>
                <a:latin typeface="Arial" pitchFamily="34" charset="0"/>
                <a:ea typeface="Arial" pitchFamily="34" charset="-122"/>
                <a:cs typeface="Arial" pitchFamily="34" charset="-120"/>
              </a:rPr>
              <a:t> ~1,000 high-quality instruction-code pairs for fine-tuning; lightweight RAG corpus of aerospace manufacturing standards (PDFs).</a:t>
            </a:r>
            <a:endParaRPr lang="en-US" sz="1600" dirty="0"/>
          </a:p>
          <a:p>
            <a:pPr marL="254000" indent="-254000">
              <a:lnSpc>
                <a:spcPct val="135000"/>
              </a:lnSpc>
              <a:spcBef>
                <a:spcPts val="10"/>
              </a:spcBef>
              <a:buSzPct val="100000"/>
              <a:buChar char="•"/>
            </a:pPr>
            <a:r>
              <a:rPr lang="en-US" sz="1350" b="1" dirty="0">
                <a:solidFill>
                  <a:srgbClr val="000000"/>
                </a:solidFill>
                <a:latin typeface="Arial" pitchFamily="34" charset="0"/>
                <a:ea typeface="Arial" pitchFamily="34" charset="-122"/>
                <a:cs typeface="Arial" pitchFamily="34" charset="-120"/>
              </a:rPr>
              <a:t>License:</a:t>
            </a:r>
            <a:pPr>
              <a:lnSpc>
                <a:spcPct val="135000"/>
              </a:lnSpc>
              <a:spcBef>
                <a:spcPts val="10"/>
              </a:spcBef>
            </a:pPr>
            <a:r>
              <a:rPr lang="en-US" sz="1350" dirty="0">
                <a:solidFill>
                  <a:srgbClr val="000000"/>
                </a:solidFill>
                <a:latin typeface="Arial" pitchFamily="34" charset="0"/>
                <a:ea typeface="Arial" pitchFamily="34" charset="-122"/>
                <a:cs typeface="Arial" pitchFamily="34" charset="-120"/>
              </a:rPr>
              <a:t> Open-source (MIT/Apache 2.0) for CadQuery code, and open data licenses for standard engineering reference manuals.</a:t>
            </a:r>
            <a:endParaRPr lang="en-US" sz="1600" dirty="0"/>
          </a:p>
          <a:p>
            <a:pPr>
              <a:lnSpc>
                <a:spcPct val="135000"/>
              </a:lnSpc>
            </a:pPr>
            <a:r>
              <a:rPr lang="en-US" sz="1350" b="1" dirty="0">
                <a:solidFill>
                  <a:srgbClr val="000000"/>
                </a:solidFill>
                <a:latin typeface="Arial" pitchFamily="34" charset="0"/>
                <a:ea typeface="Arial" pitchFamily="34" charset="-122"/>
                <a:cs typeface="Arial" pitchFamily="34" charset="-120"/>
              </a:rPr>
              <a:t>Results Achieved:</a:t>
            </a:r>
            <a:pPr>
              <a:lnSpc>
                <a:spcPct val="135000"/>
              </a:lnSpc>
            </a:pPr>
            <a:r>
              <a:rPr lang="en-US" sz="1350" dirty="0">
                <a:solidFill>
                  <a:srgbClr val="000000"/>
                </a:solidFill>
                <a:latin typeface="Arial" pitchFamily="34" charset="0"/>
                <a:ea typeface="Arial" pitchFamily="34" charset="-122"/>
                <a:cs typeface="Arial" pitchFamily="34" charset="-120"/>
              </a:rPr>
              <a:t> Core multi-agent architecture and YAML-based agent execution configurations mapped out. Local proof-of-concept for the Python CadQuery geometry generation established.</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2369165" y="475488"/>
          <a:ext cx="3999992" cy="3999992"/>
        </p:xfrm>
        <a:graphic>
          <a:graphicData uri="http://schemas.openxmlformats.org/drawingml/2006/table">
            <a:tbl>
              <a:tblPr/>
              <a:tblGrid>
                <a:gridCol w="1999996"/>
                <a:gridCol w="1999996"/>
              </a:tblGrid>
              <a:tr h="3999992">
                <a:tc>
                  <a:txBody>
                    <a:bodyPr/>
                    <a:lstStyle/>
                    <a:p>
                      <a:pPr algn="l"/>
                      <a:r>
                        <a:rPr lang="en-US" sz="2800" u="none" dirty="0">
                          <a:solidFill>
                            <a:srgbClr val="FF0000"/>
                          </a:solidFill>
                          <a:latin typeface="Arial" pitchFamily="34" charset="0"/>
                          <a:ea typeface="Arial" pitchFamily="34" charset="-122"/>
                          <a:cs typeface="Arial" pitchFamily="34" charset="-120"/>
                        </a:rPr>
                        <a:t>TRACK</a:t>
                      </a:r>
                      <a:endParaRPr lang="en-US" sz="2800" dirty="0">
                        <a:latin typeface="Arial" charset="0"/>
                        <a:ea typeface="Arial" charset="0"/>
                        <a:cs typeface="Arial" charset="0"/>
                      </a:endParaRPr>
                    </a:p>
                  </a:txBody>
                  <a:tcPr marL="91440" marR="91440" marT="0" marB="0" anchor="ctr">
                    <a:lnL w="0" cap="flat" cmpd="sng" algn="ctr">
                      <a:noFill/>
                    </a:lnL>
                    <a:lnR w="9525" cap="flat" cmpd="sng" algn="ctr">
                      <a:solidFill>
                        <a:srgbClr val="FF0000"/>
                      </a:solidFill>
                      <a:prstDash val="solid"/>
                      <a:round/>
                      <a:headEnd type="none" w="med" len="med"/>
                      <a:tailEnd type="none" w="med" len="med"/>
                    </a:lnR>
                    <a:lnT w="0" cap="flat" cmpd="sng" algn="ctr">
                      <a:noFill/>
                    </a:lnT>
                    <a:lnB w="0" cap="flat" cmpd="sng" algn="ctr">
                      <a:noFill/>
                    </a:lnB>
                    <a:solidFill>
                      <a:srgbClr val="FFFFFF"/>
                    </a:solidFill>
                  </a:tcPr>
                </a:tc>
                <a:tc>
                  <a:txBody>
                    <a:bodyPr/>
                    <a:lstStyle/>
                    <a:p>
                      <a:pPr algn="l"/>
                      <a:r>
                        <a:rPr lang="en-US" sz="2800" u="none" dirty="0">
                          <a:solidFill>
                            <a:srgbClr val="FF0000"/>
                          </a:solidFill>
                          <a:latin typeface="Arial" pitchFamily="34" charset="0"/>
                          <a:ea typeface="Arial" pitchFamily="34" charset="-122"/>
                          <a:cs typeface="Arial" pitchFamily="34" charset="-120"/>
                        </a:rPr>
                        <a:t>A</a:t>
                      </a:r>
                      <a:endParaRPr lang="en-US" sz="2800" dirty="0">
                        <a:latin typeface="Arial" charset="0"/>
                        <a:ea typeface="Arial" charset="0"/>
                        <a:cs typeface="Arial" charset="0"/>
                      </a:endParaRPr>
                    </a:p>
                  </a:txBody>
                  <a:tcPr marL="91440" marR="91440" marT="0" marB="0" anchor="ctr">
                    <a:lnL w="0" cap="flat" cmpd="sng" algn="ctr">
                      <a:noFill/>
                    </a:lnL>
                    <a:lnR w="9525" cap="flat" cmpd="sng" algn="ctr">
                      <a:solidFill>
                        <a:srgbClr val="FF0000"/>
                      </a:solidFill>
                      <a:prstDash val="solid"/>
                      <a:round/>
                      <a:headEnd type="none" w="med" len="med"/>
                      <a:tailEnd type="none" w="med" len="med"/>
                    </a:lnR>
                    <a:lnT w="0" cap="flat" cmpd="sng" algn="ctr">
                      <a:noFill/>
                    </a:lnT>
                    <a:lnB w="0" cap="flat" cmpd="sng" algn="ctr">
                      <a:noFill/>
                    </a:lnB>
                    <a:solidFill>
                      <a:srgbClr val="FFFFFF"/>
                    </a:solidFill>
                  </a:tcPr>
                </a:tc>
              </a:tr>
            </a:tbl>
          </a:graphicData>
        </a:graphic>
      </p:graphicFrame>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alphaModFix amt="100000"/>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okc/ceterupst46ec/mnt/agents/output/converted/images/image_2.jpg">    </p:cNvPr>
          <p:cNvPicPr>
            <a:picLocks noChangeAspect="1"/>
          </p:cNvPicPr>
          <p:nvPr/>
        </p:nvPicPr>
        <p:blipFill>
          <a:blip r:embed="rId2"/>
          <a:stretch>
            <a:fillRect/>
          </a:stretch>
        </p:blipFill>
        <p:spPr>
          <a:xfrm>
            <a:off x="0" y="0"/>
            <a:ext cx="16256000" cy="9144000"/>
          </a:xfrm>
          <a:prstGeom prst="rect">
            <a:avLst/>
          </a:prstGeom>
        </p:spPr>
      </p:pic>
      <p:pic>
        <p:nvPicPr>
          <p:cNvPr id="3" name="Image 1" descr="https://kimi-img.moonshot.cn/pub/slides/okc/ceterupst46ec/mnt/agents/output/converted/images/image_3.png">    </p:cNvPr>
          <p:cNvPicPr>
            <a:picLocks noChangeAspect="1"/>
          </p:cNvPicPr>
          <p:nvPr/>
        </p:nvPicPr>
        <p:blipFill>
          <a:blip r:embed="rId3"/>
          <a:stretch>
            <a:fillRect/>
          </a:stretch>
        </p:blipFill>
        <p:spPr>
          <a:xfrm>
            <a:off x="362712" y="343789"/>
            <a:ext cx="3718179" cy="1281049"/>
          </a:xfrm>
          <a:prstGeom prst="rect">
            <a:avLst/>
          </a:prstGeom>
        </p:spPr>
      </p:pic>
      <p:sp>
        <p:nvSpPr>
          <p:cNvPr id="4" name="Shape 0"/>
          <p:cNvSpPr/>
          <p:nvPr/>
        </p:nvSpPr>
        <p:spPr>
          <a:xfrm>
            <a:off x="672465" y="1326007"/>
            <a:ext cx="8569960" cy="2194433"/>
          </a:xfrm>
          <a:prstGeom prst="rect">
            <a:avLst/>
          </a:prstGeom>
          <a:solidFill>
            <a:srgbClr val="FFFFFF">
              <a:alpha val="0"/>
            </a:srgbClr>
          </a:solidFill>
          <a:ln/>
        </p:spPr>
      </p:sp>
      <p:sp>
        <p:nvSpPr>
          <p:cNvPr id="5" name="Text 1"/>
          <p:cNvSpPr/>
          <p:nvPr/>
        </p:nvSpPr>
        <p:spPr>
          <a:xfrm>
            <a:off x="591185" y="1285367"/>
            <a:ext cx="8732520" cy="2275713"/>
          </a:xfrm>
          <a:prstGeom prst="rect">
            <a:avLst/>
          </a:prstGeom>
          <a:noFill/>
          <a:ln/>
        </p:spPr>
        <p:txBody>
          <a:bodyPr wrap="square" lIns="0" tIns="0" rIns="0" bIns="0" rtlCol="0" anchor="b"/>
          <a:lstStyle/>
          <a:p>
            <a:pPr>
              <a:lnSpc>
                <a:spcPct val="90000"/>
              </a:lnSpc>
            </a:pPr>
            <a:r>
              <a:rPr lang="en-US" sz="3870" b="1" dirty="0">
                <a:solidFill>
                  <a:srgbClr val="000000"/>
                </a:solidFill>
                <a:latin typeface="NVIDIA Sans" pitchFamily="34" charset="0"/>
                <a:ea typeface="NVIDIA Sans" pitchFamily="34" charset="-122"/>
                <a:cs typeface="NVIDIA Sans" pitchFamily="34" charset="-120"/>
              </a:rPr>
              <a:t>Tech Stack</a:t>
            </a:r>
            <a:endParaRPr lang="en-US" sz="1600" dirty="0"/>
          </a:p>
        </p:txBody>
      </p:sp>
      <p:sp>
        <p:nvSpPr>
          <p:cNvPr id="6" name="Shape 2"/>
          <p:cNvSpPr/>
          <p:nvPr/>
        </p:nvSpPr>
        <p:spPr>
          <a:xfrm>
            <a:off x="672465" y="3529711"/>
            <a:ext cx="10755249" cy="757174"/>
          </a:xfrm>
          <a:prstGeom prst="rect">
            <a:avLst/>
          </a:prstGeom>
          <a:solidFill>
            <a:srgbClr val="FFFFFF">
              <a:alpha val="0"/>
            </a:srgbClr>
          </a:solidFill>
          <a:ln/>
        </p:spPr>
      </p:sp>
      <p:sp>
        <p:nvSpPr>
          <p:cNvPr id="7" name="Text 3"/>
          <p:cNvSpPr/>
          <p:nvPr/>
        </p:nvSpPr>
        <p:spPr>
          <a:xfrm>
            <a:off x="591185" y="3489071"/>
            <a:ext cx="10917809" cy="838454"/>
          </a:xfrm>
          <a:prstGeom prst="rect">
            <a:avLst/>
          </a:prstGeom>
          <a:noFill/>
          <a:ln/>
        </p:spPr>
        <p:txBody>
          <a:bodyPr wrap="square" lIns="0" tIns="0" rIns="0" bIns="0" rtlCol="0" anchor="t"/>
          <a:lstStyle/>
          <a:p>
            <a:pPr>
              <a:lnSpc>
                <a:spcPct val="90000"/>
              </a:lnSpc>
            </a:pPr>
            <a:r>
              <a:rPr lang="en-US" sz="2000" dirty="0">
                <a:solidFill>
                  <a:srgbClr val="000000"/>
                </a:solidFill>
                <a:latin typeface="NVIDIA Sans" pitchFamily="34" charset="0"/>
                <a:ea typeface="NVIDIA Sans" pitchFamily="34" charset="-122"/>
                <a:cs typeface="NVIDIA Sans" pitchFamily="34" charset="-120"/>
              </a:rPr>
              <a:t>Strategy for building/improving your project</a:t>
            </a:r>
            <a:endParaRPr lang="en-US" sz="1600" dirty="0"/>
          </a:p>
        </p:txBody>
      </p:sp>
      <p:pic>
        <p:nvPicPr>
          <p:cNvPr id="8" name="Image 2" descr="https://kimi-img.moonshot.cn/pub/slides/okc/ceterupst46ec/mnt/agents/output/converted/images/image_4.png">    </p:cNvPr>
          <p:cNvPicPr>
            <a:picLocks noChangeAspect="1"/>
          </p:cNvPicPr>
          <p:nvPr/>
        </p:nvPicPr>
        <p:blipFill>
          <a:blip r:embed="rId4"/>
          <a:stretch>
            <a:fillRect/>
          </a:stretch>
        </p:blipFill>
        <p:spPr>
          <a:xfrm>
            <a:off x="505333" y="8140573"/>
            <a:ext cx="2640711" cy="757174"/>
          </a:xfrm>
          <a:prstGeom prst="rect">
            <a:avLst/>
          </a:prstGeom>
        </p:spPr>
      </p:pic>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185261" y="8749157"/>
            <a:ext cx="69088" cy="395478"/>
          </a:xfrm>
          <a:prstGeom prst="rect">
            <a:avLst/>
          </a:prstGeom>
          <a:solidFill>
            <a:srgbClr val="76B900"/>
          </a:solidFill>
          <a:ln/>
        </p:spPr>
      </p:sp>
      <p:pic>
        <p:nvPicPr>
          <p:cNvPr id="3" name="Image 0" descr="https://kimi-img.moonshot.cn/pub/slides/okc/ceterupst46ec/mnt/agents/output/converted/images/image_3.png">    </p:cNvPr>
          <p:cNvPicPr>
            <a:picLocks noChangeAspect="1"/>
          </p:cNvPicPr>
          <p:nvPr/>
        </p:nvPicPr>
        <p:blipFill>
          <a:blip r:embed="rId1"/>
          <a:stretch>
            <a:fillRect/>
          </a:stretch>
        </p:blipFill>
        <p:spPr>
          <a:xfrm>
            <a:off x="15136876" y="8667750"/>
            <a:ext cx="890270" cy="306705"/>
          </a:xfrm>
          <a:prstGeom prst="rect">
            <a:avLst/>
          </a:prstGeom>
        </p:spPr>
      </p:pic>
      <p:pic>
        <p:nvPicPr>
          <p:cNvPr id="4" name="Image 1" descr="https://kimi-img.moonshot.cn/pub/slides/okc/ceterupst46ec/mnt/agents/output/converted/images/image_4.png">    </p:cNvPr>
          <p:cNvPicPr>
            <a:picLocks noChangeAspect="1"/>
          </p:cNvPicPr>
          <p:nvPr/>
        </p:nvPicPr>
        <p:blipFill>
          <a:blip r:embed="rId2"/>
          <a:stretch>
            <a:fillRect/>
          </a:stretch>
        </p:blipFill>
        <p:spPr>
          <a:xfrm>
            <a:off x="505333" y="8140573"/>
            <a:ext cx="2640711" cy="757174"/>
          </a:xfrm>
          <a:prstGeom prst="rect">
            <a:avLst/>
          </a:prstGeom>
        </p:spPr>
      </p:pic>
      <p:sp>
        <p:nvSpPr>
          <p:cNvPr id="5" name="Text 1"/>
          <p:cNvSpPr/>
          <p:nvPr/>
        </p:nvSpPr>
        <p:spPr>
          <a:xfrm>
            <a:off x="1628902" y="3097911"/>
            <a:ext cx="13021564" cy="492379"/>
          </a:xfrm>
          <a:prstGeom prst="rect">
            <a:avLst/>
          </a:prstGeom>
          <a:noFill/>
          <a:ln/>
        </p:spPr>
        <p:txBody>
          <a:bodyPr wrap="square" lIns="0" tIns="0" rIns="0" bIns="0" rtlCol="0" anchor="t"/>
          <a:lstStyle/>
          <a:p>
            <a:pPr>
              <a:lnSpc>
                <a:spcPct val="100000"/>
              </a:lnSpc>
            </a:pPr>
            <a:endParaRPr lang="en-US" sz="1600" dirty="0"/>
          </a:p>
        </p:txBody>
      </p:sp>
      <p:sp>
        <p:nvSpPr>
          <p:cNvPr id="6" name="Text 2"/>
          <p:cNvSpPr/>
          <p:nvPr/>
        </p:nvSpPr>
        <p:spPr>
          <a:xfrm>
            <a:off x="1333500" y="698500"/>
            <a:ext cx="13589000" cy="7366000"/>
          </a:xfrm>
          <a:prstGeom prst="rect">
            <a:avLst/>
          </a:prstGeom>
          <a:noFill/>
          <a:ln/>
        </p:spPr>
        <p:txBody>
          <a:bodyPr wrap="square" lIns="0" tIns="0" rIns="0" bIns="0" rtlCol="0" anchor="t"/>
          <a:lstStyle/>
          <a:p>
            <a:pPr>
              <a:lnSpc>
                <a:spcPct val="135000"/>
              </a:lnSpc>
            </a:pPr>
            <a:r>
              <a:rPr lang="en-US" sz="1500" b="1" dirty="0">
                <a:solidFill>
                  <a:srgbClr val="000000"/>
                </a:solidFill>
                <a:latin typeface="Arial" pitchFamily="34" charset="0"/>
                <a:ea typeface="Arial" pitchFamily="34" charset="-122"/>
                <a:cs typeface="Arial" pitchFamily="34" charset="-120"/>
              </a:rPr>
              <a:t>Tech Stack &amp; Implementation Strategy</a:t>
            </a:r>
            <a:endParaRPr lang="en-US" sz="1600" dirty="0"/>
          </a:p>
          <a:p>
            <a:pPr marL="254000" indent="-254000">
              <a:lnSpc>
                <a:spcPct val="135000"/>
              </a:lnSpc>
              <a:spcBef>
                <a:spcPts val="10"/>
              </a:spcBef>
              <a:buSzPct val="100000"/>
              <a:buChar char="•"/>
            </a:pPr>
            <a:r>
              <a:rPr lang="en-US" sz="1500" b="1" dirty="0">
                <a:solidFill>
                  <a:srgbClr val="000000"/>
                </a:solidFill>
                <a:latin typeface="Arial" pitchFamily="34" charset="0"/>
                <a:ea typeface="Arial" pitchFamily="34" charset="-122"/>
                <a:cs typeface="Arial" pitchFamily="34" charset="-120"/>
              </a:rPr>
              <a:t>Track:</a:t>
            </a:r>
            <a:pPr>
              <a:lnSpc>
                <a:spcPct val="135000"/>
              </a:lnSpc>
              <a:spcBef>
                <a:spcPts val="10"/>
              </a:spcBef>
            </a:pPr>
            <a:r>
              <a:rPr lang="en-US" sz="1500" dirty="0">
                <a:solidFill>
                  <a:srgbClr val="000000"/>
                </a:solidFill>
                <a:latin typeface="Arial" pitchFamily="34" charset="0"/>
                <a:ea typeface="Arial" pitchFamily="34" charset="-122"/>
                <a:cs typeface="Arial" pitchFamily="34" charset="-120"/>
              </a:rPr>
              <a:t> Track A (Agentic Workflows)</a:t>
            </a:r>
            <a:endParaRPr lang="en-US" sz="1600" dirty="0"/>
          </a:p>
          <a:p>
            <a:pPr marL="254000" indent="-254000">
              <a:lnSpc>
                <a:spcPct val="135000"/>
              </a:lnSpc>
              <a:spcBef>
                <a:spcPts val="10"/>
              </a:spcBef>
              <a:buSzPct val="100000"/>
              <a:buChar char="•"/>
            </a:pPr>
            <a:r>
              <a:rPr lang="en-US" sz="1500" b="1" dirty="0">
                <a:solidFill>
                  <a:srgbClr val="000000"/>
                </a:solidFill>
                <a:latin typeface="Arial" pitchFamily="34" charset="0"/>
                <a:ea typeface="Arial" pitchFamily="34" charset="-122"/>
                <a:cs typeface="Arial" pitchFamily="34" charset="-120"/>
              </a:rPr>
              <a:t>Prior Experience:</a:t>
            </a:r>
            <a:pPr>
              <a:lnSpc>
                <a:spcPct val="135000"/>
              </a:lnSpc>
              <a:spcBef>
                <a:spcPts val="10"/>
              </a:spcBef>
            </a:pPr>
            <a:r>
              <a:rPr lang="en-US" sz="1500" dirty="0">
                <a:solidFill>
                  <a:srgbClr val="000000"/>
                </a:solidFill>
                <a:latin typeface="Arial" pitchFamily="34" charset="0"/>
                <a:ea typeface="Arial" pitchFamily="34" charset="-122"/>
                <a:cs typeface="Arial" pitchFamily="34" charset="-120"/>
              </a:rPr>
              <a:t> RAG pipeline development, automated QA optimization, and context-aware LLM tool routing.</a:t>
            </a:r>
            <a:endParaRPr lang="en-US" sz="1600" dirty="0"/>
          </a:p>
          <a:p>
            <a:pPr marL="254000" indent="-254000">
              <a:lnSpc>
                <a:spcPct val="135000"/>
              </a:lnSpc>
              <a:spcBef>
                <a:spcPts val="10"/>
              </a:spcBef>
              <a:buSzPct val="100000"/>
              <a:buChar char="•"/>
            </a:pPr>
            <a:r>
              <a:rPr lang="en-US" sz="1500" b="1" dirty="0">
                <a:solidFill>
                  <a:srgbClr val="000000"/>
                </a:solidFill>
                <a:latin typeface="Arial" pitchFamily="34" charset="0"/>
                <a:ea typeface="Arial" pitchFamily="34" charset="-122"/>
                <a:cs typeface="Arial" pitchFamily="34" charset="-120"/>
              </a:rPr>
              <a:t>Tools Planned:</a:t>
            </a:r>
            <a:pPr>
              <a:lnSpc>
                <a:spcPct val="135000"/>
              </a:lnSpc>
              <a:spcBef>
                <a:spcPts val="10"/>
              </a:spcBef>
            </a:pPr>
            <a:r>
              <a:rPr lang="en-US" sz="1500" dirty="0">
                <a:solidFill>
                  <a:srgbClr val="000000"/>
                </a:solidFill>
                <a:latin typeface="Arial" pitchFamily="34" charset="0"/>
                <a:ea typeface="Arial" pitchFamily="34" charset="-122"/>
                <a:cs typeface="Arial" pitchFamily="34" charset="-120"/>
              </a:rPr>
              <a:t> LangGraph/AutoGen (Orchestration), CadQuery (Headless CAD execution), Streamlit/PyVista (UI/3D Viewer), Java (Backend microservices).</a:t>
            </a:r>
            <a:endParaRPr lang="en-US" sz="1600" dirty="0"/>
          </a:p>
          <a:p>
            <a:pPr marL="254000" indent="-254000">
              <a:lnSpc>
                <a:spcPct val="135000"/>
              </a:lnSpc>
              <a:spcBef>
                <a:spcPts val="10"/>
              </a:spcBef>
              <a:buSzPct val="100000"/>
              <a:buChar char="•"/>
            </a:pPr>
            <a:r>
              <a:rPr lang="en-US" sz="1500" b="1" dirty="0">
                <a:solidFill>
                  <a:srgbClr val="000000"/>
                </a:solidFill>
                <a:latin typeface="Arial" pitchFamily="34" charset="0"/>
                <a:ea typeface="Arial" pitchFamily="34" charset="-122"/>
                <a:cs typeface="Arial" pitchFamily="34" charset="-120"/>
              </a:rPr>
              <a:t>NVIDIA SDKs &amp; Tools:</a:t>
            </a:r>
            <a:endParaRPr lang="en-US" sz="1600" dirty="0"/>
          </a:p>
          <a:p>
            <a:pPr marL="254000" indent="-254000">
              <a:lnSpc>
                <a:spcPct val="135000"/>
              </a:lnSpc>
              <a:spcBef>
                <a:spcPts val="10"/>
              </a:spcBef>
              <a:buSzPct val="100000"/>
              <a:buChar char="•"/>
            </a:pPr>
            <a:r>
              <a:rPr lang="en-US" sz="1500" b="1" dirty="0">
                <a:solidFill>
                  <a:srgbClr val="000000"/>
                </a:solidFill>
                <a:latin typeface="Arial" pitchFamily="34" charset="0"/>
                <a:ea typeface="Arial" pitchFamily="34" charset="-122"/>
                <a:cs typeface="Arial" pitchFamily="34" charset="-120"/>
              </a:rPr>
              <a:t>NemoClaw:</a:t>
            </a:r>
            <a:pPr>
              <a:lnSpc>
                <a:spcPct val="135000"/>
              </a:lnSpc>
              <a:spcBef>
                <a:spcPts val="10"/>
              </a:spcBef>
            </a:pPr>
            <a:r>
              <a:rPr lang="en-US" sz="1500" dirty="0">
                <a:solidFill>
                  <a:srgbClr val="000000"/>
                </a:solidFill>
                <a:latin typeface="Arial" pitchFamily="34" charset="0"/>
                <a:ea typeface="Arial" pitchFamily="34" charset="-122"/>
                <a:cs typeface="Arial" pitchFamily="34" charset="-120"/>
              </a:rPr>
              <a:t> Core secure runtime for sandboxed execution of Python CAD scripts.</a:t>
            </a:r>
            <a:endParaRPr lang="en-US" sz="1600" dirty="0"/>
          </a:p>
          <a:p>
            <a:pPr marL="254000" indent="-254000">
              <a:lnSpc>
                <a:spcPct val="135000"/>
              </a:lnSpc>
              <a:spcBef>
                <a:spcPts val="10"/>
              </a:spcBef>
              <a:buSzPct val="100000"/>
              <a:buChar char="•"/>
            </a:pPr>
            <a:r>
              <a:rPr lang="en-US" sz="1500" b="1" dirty="0">
                <a:solidFill>
                  <a:srgbClr val="000000"/>
                </a:solidFill>
                <a:latin typeface="Arial" pitchFamily="34" charset="0"/>
                <a:ea typeface="Arial" pitchFamily="34" charset="-122"/>
                <a:cs typeface="Arial" pitchFamily="34" charset="-120"/>
              </a:rPr>
              <a:t>NeMo Agent Toolkit:</a:t>
            </a:r>
            <a:pPr>
              <a:lnSpc>
                <a:spcPct val="135000"/>
              </a:lnSpc>
              <a:spcBef>
                <a:spcPts val="10"/>
              </a:spcBef>
            </a:pPr>
            <a:r>
              <a:rPr lang="en-US" sz="1500" dirty="0">
                <a:solidFill>
                  <a:srgbClr val="000000"/>
                </a:solidFill>
                <a:latin typeface="Arial" pitchFamily="34" charset="0"/>
                <a:ea typeface="Arial" pitchFamily="34" charset="-122"/>
                <a:cs typeface="Arial" pitchFamily="34" charset="-120"/>
              </a:rPr>
              <a:t> Orchestration, state management, and Guardrails.</a:t>
            </a:r>
            <a:endParaRPr lang="en-US" sz="1600" dirty="0"/>
          </a:p>
          <a:p>
            <a:pPr marL="254000" indent="-254000">
              <a:lnSpc>
                <a:spcPct val="135000"/>
              </a:lnSpc>
              <a:spcBef>
                <a:spcPts val="10"/>
              </a:spcBef>
              <a:buSzPct val="100000"/>
              <a:buChar char="•"/>
            </a:pPr>
            <a:r>
              <a:rPr lang="en-US" sz="1500" b="1" dirty="0">
                <a:solidFill>
                  <a:srgbClr val="000000"/>
                </a:solidFill>
                <a:latin typeface="Arial" pitchFamily="34" charset="0"/>
                <a:ea typeface="Arial" pitchFamily="34" charset="-122"/>
                <a:cs typeface="Arial" pitchFamily="34" charset="-120"/>
              </a:rPr>
              <a:t>NVIDIA NIM:</a:t>
            </a:r>
            <a:pPr>
              <a:lnSpc>
                <a:spcPct val="135000"/>
              </a:lnSpc>
              <a:spcBef>
                <a:spcPts val="10"/>
              </a:spcBef>
            </a:pPr>
            <a:r>
              <a:rPr lang="en-US" sz="1500" dirty="0">
                <a:solidFill>
                  <a:srgbClr val="000000"/>
                </a:solidFill>
                <a:latin typeface="Arial" pitchFamily="34" charset="0"/>
                <a:ea typeface="Arial" pitchFamily="34" charset="-122"/>
                <a:cs typeface="Arial" pitchFamily="34" charset="-120"/>
              </a:rPr>
              <a:t> Fast inference for Nemotron models.</a:t>
            </a:r>
            <a:endParaRPr lang="en-US" sz="1600" dirty="0"/>
          </a:p>
          <a:p>
            <a:pPr marL="254000" indent="-254000">
              <a:lnSpc>
                <a:spcPct val="135000"/>
              </a:lnSpc>
              <a:spcBef>
                <a:spcPts val="10"/>
              </a:spcBef>
              <a:buSzPct val="100000"/>
              <a:buChar char="•"/>
            </a:pPr>
            <a:r>
              <a:rPr lang="en-US" sz="1500" b="1" dirty="0">
                <a:solidFill>
                  <a:srgbClr val="000000"/>
                </a:solidFill>
                <a:latin typeface="Arial" pitchFamily="34" charset="0"/>
                <a:ea typeface="Arial" pitchFamily="34" charset="-122"/>
                <a:cs typeface="Arial" pitchFamily="34" charset="-120"/>
              </a:rPr>
              <a:t>Nemotron Embed:</a:t>
            </a:r>
            <a:pPr>
              <a:lnSpc>
                <a:spcPct val="135000"/>
              </a:lnSpc>
              <a:spcBef>
                <a:spcPts val="10"/>
              </a:spcBef>
            </a:pPr>
            <a:r>
              <a:rPr lang="en-US" sz="1500" dirty="0">
                <a:solidFill>
                  <a:srgbClr val="000000"/>
                </a:solidFill>
                <a:latin typeface="Arial" pitchFamily="34" charset="0"/>
                <a:ea typeface="Arial" pitchFamily="34" charset="-122"/>
                <a:cs typeface="Arial" pitchFamily="34" charset="-120"/>
              </a:rPr>
              <a:t> For the RAG compliance database.</a:t>
            </a:r>
            <a:endParaRPr lang="en-US" sz="1600" dirty="0"/>
          </a:p>
          <a:p>
            <a:pPr marL="254000" indent="-254000">
              <a:lnSpc>
                <a:spcPct val="135000"/>
              </a:lnSpc>
              <a:spcBef>
                <a:spcPts val="10"/>
              </a:spcBef>
              <a:buSzPct val="100000"/>
              <a:buChar char="•"/>
            </a:pPr>
            <a:r>
              <a:rPr lang="en-US" sz="1500" b="1" dirty="0">
                <a:solidFill>
                  <a:srgbClr val="000000"/>
                </a:solidFill>
                <a:latin typeface="Arial" pitchFamily="34" charset="0"/>
                <a:ea typeface="Arial" pitchFamily="34" charset="-122"/>
                <a:cs typeface="Arial" pitchFamily="34" charset="-120"/>
              </a:rPr>
              <a:t>Model Training:</a:t>
            </a:r>
            <a:pPr>
              <a:lnSpc>
                <a:spcPct val="135000"/>
              </a:lnSpc>
              <a:spcBef>
                <a:spcPts val="10"/>
              </a:spcBef>
            </a:pPr>
            <a:r>
              <a:rPr lang="en-US" sz="1500" dirty="0">
                <a:solidFill>
                  <a:srgbClr val="000000"/>
                </a:solidFill>
                <a:latin typeface="Arial" pitchFamily="34" charset="0"/>
                <a:ea typeface="Arial" pitchFamily="34" charset="-122"/>
                <a:cs typeface="Arial" pitchFamily="34" charset="-120"/>
              </a:rPr>
              <a:t> Yes (Parameter-Efficient Fine-Tuning / LoRA on DGX hardware).</a:t>
            </a:r>
            <a:endParaRPr lang="en-US" sz="1600" dirty="0"/>
          </a:p>
          <a:p>
            <a:pPr marL="254000" indent="-254000">
              <a:lnSpc>
                <a:spcPct val="135000"/>
              </a:lnSpc>
              <a:spcBef>
                <a:spcPts val="10"/>
              </a:spcBef>
              <a:buSzPct val="100000"/>
              <a:buChar char="•"/>
            </a:pPr>
            <a:r>
              <a:rPr lang="en-US" sz="1500" b="1" dirty="0">
                <a:solidFill>
                  <a:srgbClr val="000000"/>
                </a:solidFill>
                <a:latin typeface="Arial" pitchFamily="34" charset="0"/>
                <a:ea typeface="Arial" pitchFamily="34" charset="-122"/>
                <a:cs typeface="Arial" pitchFamily="34" charset="-120"/>
              </a:rPr>
              <a:t>Differentiation:</a:t>
            </a:r>
            <a:pPr>
              <a:lnSpc>
                <a:spcPct val="135000"/>
              </a:lnSpc>
              <a:spcBef>
                <a:spcPts val="10"/>
              </a:spcBef>
            </a:pPr>
            <a:r>
              <a:rPr lang="en-US" sz="1500" dirty="0">
                <a:solidFill>
                  <a:srgbClr val="000000"/>
                </a:solidFill>
                <a:latin typeface="Arial" pitchFamily="34" charset="0"/>
                <a:ea typeface="Arial" pitchFamily="34" charset="-122"/>
                <a:cs typeface="Arial" pitchFamily="34" charset="-120"/>
              </a:rPr>
              <a:t> We avoid asking an LLM to generate 3D meshes directly. Our agents generate deterministic Python code that compiles into exact BREP geometry. We enforce compliance through a strict, QA-inspired "Validator Agent" loop.</a:t>
            </a:r>
            <a:endParaRPr lang="en-US" sz="1600" dirty="0"/>
          </a:p>
          <a:p>
            <a:pPr marL="254000" indent="-254000">
              <a:lnSpc>
                <a:spcPct val="135000"/>
              </a:lnSpc>
              <a:spcBef>
                <a:spcPts val="10"/>
              </a:spcBef>
              <a:buSzPct val="100000"/>
              <a:buChar char="•"/>
            </a:pPr>
            <a:r>
              <a:rPr lang="en-US" sz="1500" b="1" dirty="0">
                <a:solidFill>
                  <a:srgbClr val="000000"/>
                </a:solidFill>
                <a:latin typeface="Arial" pitchFamily="34" charset="0"/>
                <a:ea typeface="Arial" pitchFamily="34" charset="-122"/>
                <a:cs typeface="Arial" pitchFamily="34" charset="-120"/>
              </a:rPr>
              <a:t>Potential Bottlenecks:</a:t>
            </a:r>
            <a:pPr>
              <a:lnSpc>
                <a:spcPct val="135000"/>
              </a:lnSpc>
              <a:spcBef>
                <a:spcPts val="10"/>
              </a:spcBef>
            </a:pPr>
            <a:r>
              <a:rPr lang="en-US" sz="1500" dirty="0">
                <a:solidFill>
                  <a:srgbClr val="000000"/>
                </a:solidFill>
                <a:latin typeface="Arial" pitchFamily="34" charset="0"/>
                <a:ea typeface="Arial" pitchFamily="34" charset="-122"/>
                <a:cs typeface="Arial" pitchFamily="34" charset="-120"/>
              </a:rPr>
              <a:t> Agent routing loops (infinite iteration if constraints are too tight), execution latency during repetitive geometry compilations, and prompt-drifting.</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alphaModFix amt="100000"/>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okc/ceterupst46ec/mnt/agents/output/converted/images/image_2.jpg">    </p:cNvPr>
          <p:cNvPicPr>
            <a:picLocks noChangeAspect="1"/>
          </p:cNvPicPr>
          <p:nvPr/>
        </p:nvPicPr>
        <p:blipFill>
          <a:blip r:embed="rId2"/>
          <a:stretch>
            <a:fillRect/>
          </a:stretch>
        </p:blipFill>
        <p:spPr>
          <a:xfrm>
            <a:off x="0" y="0"/>
            <a:ext cx="16256000" cy="9144000"/>
          </a:xfrm>
          <a:prstGeom prst="rect">
            <a:avLst/>
          </a:prstGeom>
        </p:spPr>
      </p:pic>
      <p:pic>
        <p:nvPicPr>
          <p:cNvPr id="3" name="Image 1" descr="https://kimi-img.moonshot.cn/pub/slides/okc/ceterupst46ec/mnt/agents/output/converted/images/image_3.png">    </p:cNvPr>
          <p:cNvPicPr>
            <a:picLocks noChangeAspect="1"/>
          </p:cNvPicPr>
          <p:nvPr/>
        </p:nvPicPr>
        <p:blipFill>
          <a:blip r:embed="rId3"/>
          <a:stretch>
            <a:fillRect/>
          </a:stretch>
        </p:blipFill>
        <p:spPr>
          <a:xfrm>
            <a:off x="362712" y="343789"/>
            <a:ext cx="3718179" cy="1281049"/>
          </a:xfrm>
          <a:prstGeom prst="rect">
            <a:avLst/>
          </a:prstGeom>
        </p:spPr>
      </p:pic>
      <p:sp>
        <p:nvSpPr>
          <p:cNvPr id="4" name="Shape 0"/>
          <p:cNvSpPr/>
          <p:nvPr/>
        </p:nvSpPr>
        <p:spPr>
          <a:xfrm>
            <a:off x="672465" y="1326007"/>
            <a:ext cx="8569960" cy="2194433"/>
          </a:xfrm>
          <a:prstGeom prst="rect">
            <a:avLst/>
          </a:prstGeom>
          <a:solidFill>
            <a:srgbClr val="FFFFFF">
              <a:alpha val="0"/>
            </a:srgbClr>
          </a:solidFill>
          <a:ln/>
        </p:spPr>
      </p:sp>
      <p:sp>
        <p:nvSpPr>
          <p:cNvPr id="5" name="Text 1"/>
          <p:cNvSpPr/>
          <p:nvPr/>
        </p:nvSpPr>
        <p:spPr>
          <a:xfrm>
            <a:off x="591185" y="1285367"/>
            <a:ext cx="8732520" cy="2275713"/>
          </a:xfrm>
          <a:prstGeom prst="rect">
            <a:avLst/>
          </a:prstGeom>
          <a:noFill/>
          <a:ln/>
        </p:spPr>
        <p:txBody>
          <a:bodyPr wrap="square" lIns="0" tIns="0" rIns="0" bIns="0" rtlCol="0" anchor="b"/>
          <a:lstStyle/>
          <a:p>
            <a:pPr>
              <a:lnSpc>
                <a:spcPct val="90000"/>
              </a:lnSpc>
            </a:pPr>
            <a:r>
              <a:rPr lang="en-US" sz="3870" b="1" dirty="0">
                <a:solidFill>
                  <a:srgbClr val="000000"/>
                </a:solidFill>
                <a:latin typeface="NVIDIA Sans" pitchFamily="34" charset="0"/>
                <a:ea typeface="NVIDIA Sans" pitchFamily="34" charset="-122"/>
                <a:cs typeface="NVIDIA Sans" pitchFamily="34" charset="-120"/>
              </a:rPr>
              <a:t>Road Map</a:t>
            </a:r>
            <a:endParaRPr lang="en-US" sz="1600" dirty="0"/>
          </a:p>
        </p:txBody>
      </p:sp>
      <p:sp>
        <p:nvSpPr>
          <p:cNvPr id="6" name="Shape 2"/>
          <p:cNvSpPr/>
          <p:nvPr/>
        </p:nvSpPr>
        <p:spPr>
          <a:xfrm>
            <a:off x="672465" y="3529711"/>
            <a:ext cx="10755249" cy="757174"/>
          </a:xfrm>
          <a:prstGeom prst="rect">
            <a:avLst/>
          </a:prstGeom>
          <a:solidFill>
            <a:srgbClr val="FFFFFF">
              <a:alpha val="0"/>
            </a:srgbClr>
          </a:solidFill>
          <a:ln/>
        </p:spPr>
      </p:sp>
      <p:sp>
        <p:nvSpPr>
          <p:cNvPr id="7" name="Text 3"/>
          <p:cNvSpPr/>
          <p:nvPr/>
        </p:nvSpPr>
        <p:spPr>
          <a:xfrm>
            <a:off x="591185" y="3489071"/>
            <a:ext cx="10917809" cy="838454"/>
          </a:xfrm>
          <a:prstGeom prst="rect">
            <a:avLst/>
          </a:prstGeom>
          <a:noFill/>
          <a:ln/>
        </p:spPr>
        <p:txBody>
          <a:bodyPr wrap="square" lIns="0" tIns="0" rIns="0" bIns="0" rtlCol="0" anchor="t"/>
          <a:lstStyle/>
          <a:p>
            <a:pPr>
              <a:lnSpc>
                <a:spcPct val="90000"/>
              </a:lnSpc>
            </a:pPr>
            <a:r>
              <a:rPr lang="en-US" sz="2000" dirty="0">
                <a:solidFill>
                  <a:srgbClr val="000000"/>
                </a:solidFill>
                <a:latin typeface="NVIDIA Sans" pitchFamily="34" charset="0"/>
                <a:ea typeface="NVIDIA Sans" pitchFamily="34" charset="-122"/>
                <a:cs typeface="NVIDIA Sans" pitchFamily="34" charset="-120"/>
              </a:rPr>
              <a:t>Ideas for further improvement of the solution.</a:t>
            </a:r>
            <a:endParaRPr lang="en-US" sz="1600" dirty="0"/>
          </a:p>
        </p:txBody>
      </p:sp>
      <p:pic>
        <p:nvPicPr>
          <p:cNvPr id="8" name="Image 2" descr="https://kimi-img.moonshot.cn/pub/slides/okc/ceterupst46ec/mnt/agents/output/converted/images/image_4.png">    </p:cNvPr>
          <p:cNvPicPr>
            <a:picLocks noChangeAspect="1"/>
          </p:cNvPicPr>
          <p:nvPr/>
        </p:nvPicPr>
        <p:blipFill>
          <a:blip r:embed="rId4"/>
          <a:stretch>
            <a:fillRect/>
          </a:stretch>
        </p:blipFill>
        <p:spPr>
          <a:xfrm>
            <a:off x="505333" y="8140573"/>
            <a:ext cx="2640711" cy="757174"/>
          </a:xfrm>
          <a:prstGeom prst="rect">
            <a:avLst/>
          </a:prstGeom>
        </p:spPr>
      </p:pic>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6185261" y="8749157"/>
            <a:ext cx="69088" cy="395478"/>
          </a:xfrm>
          <a:prstGeom prst="rect">
            <a:avLst/>
          </a:prstGeom>
          <a:solidFill>
            <a:srgbClr val="76B900"/>
          </a:solidFill>
          <a:ln/>
        </p:spPr>
      </p:sp>
      <p:pic>
        <p:nvPicPr>
          <p:cNvPr id="4" name="Image 0" descr="https://kimi-img.moonshot.cn/pub/slides/okc/ceterupst46ec/mnt/agents/output/converted/images/image_3.png">    </p:cNvPr>
          <p:cNvPicPr>
            <a:picLocks noChangeAspect="1"/>
          </p:cNvPicPr>
          <p:nvPr/>
        </p:nvPicPr>
        <p:blipFill>
          <a:blip r:embed="rId1"/>
          <a:stretch>
            <a:fillRect/>
          </a:stretch>
        </p:blipFill>
        <p:spPr>
          <a:xfrm>
            <a:off x="15136876" y="8667750"/>
            <a:ext cx="890270" cy="306705"/>
          </a:xfrm>
          <a:prstGeom prst="rect">
            <a:avLst/>
          </a:prstGeom>
        </p:spPr>
      </p:pic>
      <p:pic>
        <p:nvPicPr>
          <p:cNvPr id="5" name="Image 1" descr="https://kimi-img.moonshot.cn/pub/slides/okc/ceterupst46ec/mnt/agents/output/converted/images/image_4.png">    </p:cNvPr>
          <p:cNvPicPr>
            <a:picLocks noChangeAspect="1"/>
          </p:cNvPicPr>
          <p:nvPr/>
        </p:nvPicPr>
        <p:blipFill>
          <a:blip r:embed="rId2"/>
          <a:stretch>
            <a:fillRect/>
          </a:stretch>
        </p:blipFill>
        <p:spPr>
          <a:xfrm>
            <a:off x="505333" y="8140573"/>
            <a:ext cx="2640711" cy="757174"/>
          </a:xfrm>
          <a:prstGeom prst="rect">
            <a:avLst/>
          </a:prstGeom>
        </p:spPr>
      </p:pic>
      <p:sp>
        <p:nvSpPr>
          <p:cNvPr id="6" name="Text 1"/>
          <p:cNvSpPr/>
          <p:nvPr/>
        </p:nvSpPr>
        <p:spPr>
          <a:xfrm>
            <a:off x="1628902" y="3097911"/>
            <a:ext cx="13021564" cy="492379"/>
          </a:xfrm>
          <a:prstGeom prst="rect">
            <a:avLst/>
          </a:prstGeom>
          <a:noFill/>
          <a:ln/>
        </p:spPr>
        <p:txBody>
          <a:bodyPr wrap="square" lIns="0" tIns="0" rIns="0" bIns="0" rtlCol="0" anchor="t"/>
          <a:lstStyle/>
          <a:p>
            <a:pPr>
              <a:lnSpc>
                <a:spcPct val="100000"/>
              </a:lnSpc>
            </a:pPr>
            <a:endParaRPr lang="en-US" sz="1600" dirty="0"/>
          </a:p>
        </p:txBody>
      </p:sp>
      <p:sp>
        <p:nvSpPr>
          <p:cNvPr id="7" name="Text 2"/>
          <p:cNvSpPr/>
          <p:nvPr/>
        </p:nvSpPr>
        <p:spPr>
          <a:xfrm>
            <a:off x="1333500" y="698500"/>
            <a:ext cx="13589000" cy="7366000"/>
          </a:xfrm>
          <a:prstGeom prst="rect">
            <a:avLst/>
          </a:prstGeom>
          <a:noFill/>
          <a:ln/>
        </p:spPr>
        <p:txBody>
          <a:bodyPr wrap="square" lIns="0" tIns="0" rIns="0" bIns="0" rtlCol="0" anchor="t"/>
          <a:lstStyle/>
          <a:p>
            <a:pPr>
              <a:lnSpc>
                <a:spcPct val="135000"/>
              </a:lnSpc>
            </a:pPr>
            <a:r>
              <a:rPr lang="en-US" sz="1300" b="1" dirty="0">
                <a:solidFill>
                  <a:srgbClr val="000000"/>
                </a:solidFill>
                <a:latin typeface="Arial" pitchFamily="34" charset="0"/>
                <a:ea typeface="Arial" pitchFamily="34" charset="-122"/>
                <a:cs typeface="Arial" pitchFamily="34" charset="-120"/>
              </a:rPr>
              <a:t>Roadmap &amp; Strategic Plan</a:t>
            </a:r>
            <a:endParaRPr lang="en-US" sz="1600" dirty="0"/>
          </a:p>
          <a:p>
            <a:pPr marL="254000" indent="-254000">
              <a:lnSpc>
                <a:spcPct val="135000"/>
              </a:lnSpc>
              <a:spcBef>
                <a:spcPts val="10"/>
              </a:spcBef>
              <a:buSzPct val="100000"/>
              <a:buChar char="•"/>
            </a:pPr>
            <a:r>
              <a:rPr lang="en-US" sz="1300" b="1" dirty="0">
                <a:solidFill>
                  <a:srgbClr val="000000"/>
                </a:solidFill>
                <a:latin typeface="Arial" pitchFamily="34" charset="0"/>
                <a:ea typeface="Arial" pitchFamily="34" charset="-122"/>
                <a:cs typeface="Arial" pitchFamily="34" charset="-120"/>
              </a:rPr>
              <a:t>Areas for Mentor Support:</a:t>
            </a:r>
            <a:endParaRPr lang="en-US" sz="1600" dirty="0"/>
          </a:p>
          <a:p>
            <a:pPr marL="254000" indent="-254000">
              <a:lnSpc>
                <a:spcPct val="135000"/>
              </a:lnSpc>
              <a:spcBef>
                <a:spcPts val="10"/>
              </a:spcBef>
              <a:buSzPct val="100000"/>
              <a:buFont typeface="+mj-lt"/>
              <a:buAutoNum type="arabicPeriod" startAt="1"/>
            </a:pPr>
            <a:r>
              <a:rPr lang="en-US" sz="1300" dirty="0">
                <a:solidFill>
                  <a:srgbClr val="000000"/>
                </a:solidFill>
                <a:latin typeface="Arial" pitchFamily="34" charset="0"/>
                <a:ea typeface="Arial" pitchFamily="34" charset="-122"/>
                <a:cs typeface="Arial" pitchFamily="34" charset="-120"/>
              </a:rPr>
              <a:t>Executing a highly efficient PEFT/LoRA fine-tuning job on Nemotron using the provided DGX hardware during the Bangalore finals.</a:t>
            </a:r>
            <a:endParaRPr lang="en-US" sz="1600" dirty="0"/>
          </a:p>
          <a:p>
            <a:pPr marL="254000" indent="-254000">
              <a:lnSpc>
                <a:spcPct val="135000"/>
              </a:lnSpc>
              <a:spcBef>
                <a:spcPts val="10"/>
              </a:spcBef>
              <a:buSzPct val="100000"/>
              <a:buFont typeface="+mj-lt"/>
              <a:buAutoNum type="arabicPeriod" startAt="1"/>
            </a:pPr>
            <a:r>
              <a:rPr lang="en-US" sz="1300" dirty="0">
                <a:solidFill>
                  <a:srgbClr val="000000"/>
                </a:solidFill>
                <a:latin typeface="Arial" pitchFamily="34" charset="0"/>
                <a:ea typeface="Arial" pitchFamily="34" charset="-122"/>
                <a:cs typeface="Arial" pitchFamily="34" charset="-120"/>
              </a:rPr>
              <a:t>Optimizing NemoClaw sandbox security policies for safe Python script execution.</a:t>
            </a:r>
            <a:endParaRPr lang="en-US" sz="1600" dirty="0"/>
          </a:p>
          <a:p>
            <a:pPr marL="254000" indent="-254000">
              <a:lnSpc>
                <a:spcPct val="135000"/>
              </a:lnSpc>
              <a:spcBef>
                <a:spcPts val="10"/>
              </a:spcBef>
              <a:buSzPct val="100000"/>
              <a:buChar char="•"/>
            </a:pPr>
            <a:r>
              <a:rPr lang="en-US" sz="1300" b="1" dirty="0">
                <a:solidFill>
                  <a:srgbClr val="000000"/>
                </a:solidFill>
                <a:latin typeface="Arial" pitchFamily="34" charset="0"/>
                <a:ea typeface="Arial" pitchFamily="34" charset="-122"/>
                <a:cs typeface="Arial" pitchFamily="34" charset="-120"/>
              </a:rPr>
              <a:t>Long Term Goals:</a:t>
            </a:r>
            <a:pPr>
              <a:lnSpc>
                <a:spcPct val="135000"/>
              </a:lnSpc>
              <a:spcBef>
                <a:spcPts val="10"/>
              </a:spcBef>
            </a:pPr>
            <a:r>
              <a:rPr lang="en-US" sz="1300" dirty="0">
                <a:solidFill>
                  <a:srgbClr val="000000"/>
                </a:solidFill>
                <a:latin typeface="Arial" pitchFamily="34" charset="0"/>
                <a:ea typeface="Arial" pitchFamily="34" charset="-122"/>
                <a:cs typeface="Arial" pitchFamily="34" charset="-120"/>
              </a:rPr>
              <a:t> Expand the Master Template concept to full parametric assemblies. Integrate the pipeline with enterprise tools (like 3DEXPERIENCE) and physical AI validation environments (NVIDIA Omniverse).</a:t>
            </a:r>
            <a:endParaRPr lang="en-US" sz="1600" dirty="0"/>
          </a:p>
          <a:p>
            <a:pPr marL="254000" indent="-254000">
              <a:lnSpc>
                <a:spcPct val="135000"/>
              </a:lnSpc>
              <a:spcBef>
                <a:spcPts val="10"/>
              </a:spcBef>
              <a:buSzPct val="100000"/>
              <a:buChar char="•"/>
            </a:pPr>
            <a:r>
              <a:rPr lang="en-US" sz="1300" b="1" dirty="0">
                <a:solidFill>
                  <a:srgbClr val="000000"/>
                </a:solidFill>
                <a:latin typeface="Arial" pitchFamily="34" charset="0"/>
                <a:ea typeface="Arial" pitchFamily="34" charset="-122"/>
                <a:cs typeface="Arial" pitchFamily="34" charset="-120"/>
              </a:rPr>
              <a:t>Key Limitations:</a:t>
            </a:r>
            <a:pPr>
              <a:lnSpc>
                <a:spcPct val="135000"/>
              </a:lnSpc>
              <a:spcBef>
                <a:spcPts val="10"/>
              </a:spcBef>
            </a:pPr>
            <a:r>
              <a:rPr lang="en-US" sz="1300" dirty="0">
                <a:solidFill>
                  <a:srgbClr val="000000"/>
                </a:solidFill>
                <a:latin typeface="Arial" pitchFamily="34" charset="0"/>
                <a:ea typeface="Arial" pitchFamily="34" charset="-122"/>
                <a:cs typeface="Arial" pitchFamily="34" charset="-120"/>
              </a:rPr>
              <a:t> Base LLMs possess zero true spatial reasoning. They cannot invent novel mechanical topology from scratch reliably.</a:t>
            </a:r>
            <a:endParaRPr lang="en-US" sz="1600" dirty="0"/>
          </a:p>
          <a:p>
            <a:pPr marL="254000" indent="-254000">
              <a:lnSpc>
                <a:spcPct val="135000"/>
              </a:lnSpc>
              <a:spcBef>
                <a:spcPts val="10"/>
              </a:spcBef>
              <a:buSzPct val="100000"/>
              <a:buChar char="•"/>
            </a:pPr>
            <a:r>
              <a:rPr lang="en-US" sz="1300" b="1" dirty="0">
                <a:solidFill>
                  <a:srgbClr val="000000"/>
                </a:solidFill>
                <a:latin typeface="Arial" pitchFamily="34" charset="0"/>
                <a:ea typeface="Arial" pitchFamily="34" charset="-122"/>
                <a:cs typeface="Arial" pitchFamily="34" charset="-120"/>
              </a:rPr>
              <a:t>Ideas to Overcome:</a:t>
            </a:r>
            <a:pPr>
              <a:lnSpc>
                <a:spcPct val="135000"/>
              </a:lnSpc>
              <a:spcBef>
                <a:spcPts val="10"/>
              </a:spcBef>
            </a:pPr>
            <a:r>
              <a:rPr lang="en-US" sz="1300" dirty="0">
                <a:solidFill>
                  <a:srgbClr val="000000"/>
                </a:solidFill>
                <a:latin typeface="Arial" pitchFamily="34" charset="0"/>
                <a:ea typeface="Arial" pitchFamily="34" charset="-122"/>
                <a:cs typeface="Arial" pitchFamily="34" charset="-120"/>
              </a:rPr>
              <a:t> We constrain the AI's domain. By limiting the LLM to modifying predefined variables within a robust "Master Parametric Template," we leverage its strength in text/logic parsing while offloading the spatial math to an open-source CAD kernel. We will use the final hackathon days to fine-tune the model to understand our specific engineering constraints better, reducing iteration loops.</a:t>
            </a:r>
            <a:endParaRPr lang="en-US" sz="16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alphaModFix amt="100000"/>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okc/ceterupst46ec/mnt/agents/output/converted/images/image_2.jpg">    </p:cNvPr>
          <p:cNvPicPr>
            <a:picLocks noChangeAspect="1"/>
          </p:cNvPicPr>
          <p:nvPr/>
        </p:nvPicPr>
        <p:blipFill>
          <a:blip r:embed="rId2"/>
          <a:stretch>
            <a:fillRect/>
          </a:stretch>
        </p:blipFill>
        <p:spPr>
          <a:xfrm>
            <a:off x="0" y="0"/>
            <a:ext cx="16256000" cy="9144000"/>
          </a:xfrm>
          <a:prstGeom prst="rect">
            <a:avLst/>
          </a:prstGeom>
        </p:spPr>
      </p:pic>
      <p:pic>
        <p:nvPicPr>
          <p:cNvPr id="3" name="Image 1" descr="https://kimi-img.moonshot.cn/pub/slides/okc/ceterupst46ec/mnt/agents/output/converted/images/image_3.png">    </p:cNvPr>
          <p:cNvPicPr>
            <a:picLocks noChangeAspect="1"/>
          </p:cNvPicPr>
          <p:nvPr/>
        </p:nvPicPr>
        <p:blipFill>
          <a:blip r:embed="rId3"/>
          <a:stretch>
            <a:fillRect/>
          </a:stretch>
        </p:blipFill>
        <p:spPr>
          <a:xfrm>
            <a:off x="362712" y="343789"/>
            <a:ext cx="3718179" cy="1281049"/>
          </a:xfrm>
          <a:prstGeom prst="rect">
            <a:avLst/>
          </a:prstGeom>
        </p:spPr>
      </p:pic>
      <p:sp>
        <p:nvSpPr>
          <p:cNvPr id="4" name="Shape 0"/>
          <p:cNvSpPr/>
          <p:nvPr/>
        </p:nvSpPr>
        <p:spPr>
          <a:xfrm>
            <a:off x="672465" y="1326007"/>
            <a:ext cx="8569960" cy="2194433"/>
          </a:xfrm>
          <a:prstGeom prst="rect">
            <a:avLst/>
          </a:prstGeom>
          <a:solidFill>
            <a:srgbClr val="FFFFFF">
              <a:alpha val="0"/>
            </a:srgbClr>
          </a:solidFill>
          <a:ln/>
        </p:spPr>
      </p:sp>
      <p:sp>
        <p:nvSpPr>
          <p:cNvPr id="5" name="Text 1"/>
          <p:cNvSpPr/>
          <p:nvPr/>
        </p:nvSpPr>
        <p:spPr>
          <a:xfrm>
            <a:off x="591185" y="1285367"/>
            <a:ext cx="8732520" cy="2275713"/>
          </a:xfrm>
          <a:prstGeom prst="rect">
            <a:avLst/>
          </a:prstGeom>
          <a:noFill/>
          <a:ln/>
        </p:spPr>
        <p:txBody>
          <a:bodyPr wrap="square" lIns="0" tIns="0" rIns="0" bIns="0" rtlCol="0" anchor="b"/>
          <a:lstStyle/>
          <a:p>
            <a:pPr>
              <a:lnSpc>
                <a:spcPct val="90000"/>
              </a:lnSpc>
            </a:pPr>
            <a:r>
              <a:rPr lang="en-US" sz="3870" b="1" dirty="0">
                <a:solidFill>
                  <a:srgbClr val="000000"/>
                </a:solidFill>
                <a:latin typeface="NVIDIA Sans" pitchFamily="34" charset="0"/>
                <a:ea typeface="NVIDIA Sans" pitchFamily="34" charset="-122"/>
                <a:cs typeface="NVIDIA Sans" pitchFamily="34" charset="-120"/>
              </a:rPr>
              <a:t>Need Help? Contact Us!!</a:t>
            </a:r>
            <a:endParaRPr lang="en-US" sz="1600" dirty="0"/>
          </a:p>
        </p:txBody>
      </p:sp>
      <p:pic>
        <p:nvPicPr>
          <p:cNvPr id="6" name="Image 2" descr="https://kimi-img.moonshot.cn/pub/slides/okc/ceterupst46ec/mnt/agents/output/converted/images/image_4.png">    </p:cNvPr>
          <p:cNvPicPr>
            <a:picLocks noChangeAspect="1"/>
          </p:cNvPicPr>
          <p:nvPr/>
        </p:nvPicPr>
        <p:blipFill>
          <a:blip r:embed="rId4"/>
          <a:stretch>
            <a:fillRect/>
          </a:stretch>
        </p:blipFill>
        <p:spPr>
          <a:xfrm>
            <a:off x="505333" y="8140573"/>
            <a:ext cx="2640711" cy="757174"/>
          </a:xfrm>
          <a:prstGeom prst="rect">
            <a:avLst/>
          </a:prstGeom>
        </p:spPr>
      </p:pic>
      <p:sp>
        <p:nvSpPr>
          <p:cNvPr id="7" name="Shape 2"/>
          <p:cNvSpPr/>
          <p:nvPr/>
        </p:nvSpPr>
        <p:spPr>
          <a:xfrm>
            <a:off x="672465" y="3842258"/>
            <a:ext cx="10755249" cy="757174"/>
          </a:xfrm>
          <a:prstGeom prst="rect">
            <a:avLst/>
          </a:prstGeom>
          <a:solidFill>
            <a:srgbClr val="FFFFFF">
              <a:alpha val="0"/>
            </a:srgbClr>
          </a:solidFill>
          <a:ln/>
        </p:spPr>
      </p:sp>
      <p:sp>
        <p:nvSpPr>
          <p:cNvPr id="8" name="Text 3"/>
          <p:cNvSpPr/>
          <p:nvPr/>
        </p:nvSpPr>
        <p:spPr>
          <a:xfrm>
            <a:off x="591185" y="3801618"/>
            <a:ext cx="10917809" cy="838454"/>
          </a:xfrm>
          <a:prstGeom prst="rect">
            <a:avLst/>
          </a:prstGeom>
          <a:noFill/>
          <a:ln/>
        </p:spPr>
        <p:txBody>
          <a:bodyPr wrap="square" lIns="0" tIns="0" rIns="0" bIns="0" rtlCol="0" anchor="t"/>
          <a:lstStyle/>
          <a:p>
            <a:pPr>
              <a:lnSpc>
                <a:spcPct val="90000"/>
              </a:lnSpc>
            </a:pPr>
            <a:r>
              <a:rPr lang="en-US" sz="2000" dirty="0">
                <a:solidFill>
                  <a:srgbClr val="000000"/>
                </a:solidFill>
                <a:latin typeface="NVIDIA Sans" pitchFamily="34" charset="0"/>
                <a:ea typeface="NVIDIA Sans" pitchFamily="34" charset="-122"/>
                <a:cs typeface="NVIDIA Sans" pitchFamily="34" charset="-120"/>
              </a:rPr>
              <a:t>Join the Slack Workspace </a:t>
            </a:r>
            <a:pPr>
              <a:lnSpc>
                <a:spcPct val="90000"/>
              </a:lnSpc>
            </a:pPr>
            <a:r>
              <a:rPr lang="en-US" sz="2000" u="sng" dirty="0">
                <a:solidFill>
                  <a:srgbClr val="0097A7"/>
                </a:solidFill>
                <a:uFill>
                  <a:solidFill>
                    <a:srgbClr val="0097A7"/>
                  </a:solidFill>
                </a:uFill>
                <a:latin typeface="NVIDIA Sans" pitchFamily="34" charset="0"/>
                <a:ea typeface="NVIDIA Sans" pitchFamily="34" charset="-122"/>
                <a:cs typeface="NVIDIA Sans" pitchFamily="34" charset="-120"/>
                <a:hlinkClick r:id="rId5" tooltip="" action="ppaction://hlinkfile">
                  <a:extLst>
                    <a:ext uri="{A12FA001-AC4F-418D-AE19-62706E023703}">
                      <ahyp:hlinkClr xmlns:ahyp="http://schemas.microsoft.com/office/drawing/2018/hyperlinkcolor" val="tx"/>
                    </a:ext>
                  </a:extLst>
                </a:hlinkClick>
              </a:rPr>
              <a:t>here</a:t>
            </a:r>
            <a:endParaRPr lang="en-US" sz="1600" dirty="0"/>
          </a:p>
        </p:txBody>
      </p:sp>
      <p:pic>
        <p:nvPicPr>
          <p:cNvPr id="9" name="Image 3" descr="https://kimi-img.moonshot.cn/pub/slides/okc/ceterupst46ec/mnt/agents/output/converted/images/image_5.png">    </p:cNvPr>
          <p:cNvPicPr>
            <a:picLocks noChangeAspect="1"/>
          </p:cNvPicPr>
          <p:nvPr/>
        </p:nvPicPr>
        <p:blipFill>
          <a:blip r:embed="rId6"/>
          <a:stretch>
            <a:fillRect/>
          </a:stretch>
        </p:blipFill>
        <p:spPr>
          <a:xfrm>
            <a:off x="5136007" y="4112006"/>
            <a:ext cx="4106418" cy="4106418"/>
          </a:xfrm>
          <a:prstGeom prst="rect">
            <a:avLst/>
          </a:prstGeom>
        </p:spPr>
      </p:pic>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dc:title>
  <dc:subject>Untitled</dc:subject>
  <dc:creator>Kimi</dc:creator>
  <cp:lastModifiedBy>Kimi</cp:lastModifiedBy>
  <cp:revision>1</cp:revision>
  <dcterms:created xsi:type="dcterms:W3CDTF">2026-06-07T12:18:09Z</dcterms:created>
  <dcterms:modified xsi:type="dcterms:W3CDTF">2026-06-07T12:18:09Z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{"Label":"Untitled","ContentProducer":"001191110108MACG2KBH8F10000","ProduceID":"19ea202f-97b2-84cc-8000-0000a017e1a6","ReservedCode1":"","ContentPropagator":"001191110108MACG2KBH8F20000","PropagateID":"19ea202f-97b2-84cc-8000-0000a017e1a6","ReservedCode2":""}</vt:lpwstr>
  </property>
</Properties>
</file>